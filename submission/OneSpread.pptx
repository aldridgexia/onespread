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6e7f033c1d34042" /><Relationship Type="http://schemas.openxmlformats.org/officeDocument/2006/relationships/extended-properties" Target="/docProps/app.xml" Id="R66f14a7cff034036" /><Relationship Type="http://schemas.openxmlformats.org/officeDocument/2006/relationships/officeDocument" Target="/ppt/presentation.xml" Id="Ra235d96e1cf54751" /></Relationships>
</file>

<file path=ppt/presentation.xml><?xml version="1.0" encoding="utf-8"?>
<p:presentation xmlns:p="http://schemas.openxmlformats.org/presentationml/2006/main">
  <p:sldMasterIdLst>
    <p:sldMasterId xmlns:r="http://schemas.openxmlformats.org/officeDocument/2006/relationships" id="2147483648" r:id="R0a5ff92aa8cf42bf"/>
  </p:sldMasterIdLst>
  <p:notesMasterIdLst>
    <p:notesMasterId xmlns:r="http://schemas.openxmlformats.org/officeDocument/2006/relationships" r:id="R225488a806f64203"/>
  </p:notesMasterIdLst>
  <p:sldIdLst>
    <p:sldId xmlns:r="http://schemas.openxmlformats.org/officeDocument/2006/relationships" id="256" r:id="R48906985ef6742a8"/>
    <p:sldId xmlns:r="http://schemas.openxmlformats.org/officeDocument/2006/relationships" id="257" r:id="Rdcefc4b852834ec3"/>
    <p:sldId xmlns:r="http://schemas.openxmlformats.org/officeDocument/2006/relationships" id="258" r:id="Red78ce5801744588"/>
    <p:sldId xmlns:r="http://schemas.openxmlformats.org/officeDocument/2006/relationships" id="259" r:id="Ra1ac8afd721c42c4"/>
    <p:sldId xmlns:r="http://schemas.openxmlformats.org/officeDocument/2006/relationships" id="260" r:id="Raffa5c7c26a44440"/>
    <p:sldId xmlns:r="http://schemas.openxmlformats.org/officeDocument/2006/relationships" id="261" r:id="Rc372e7c831ec44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f64772a9714269" /><Relationship Type="http://schemas.openxmlformats.org/officeDocument/2006/relationships/slideMaster" Target="/ppt/slideMasters/slideMaster1.xml" Id="R0a5ff92aa8cf42bf" /><Relationship Type="http://schemas.openxmlformats.org/officeDocument/2006/relationships/notesMaster" Target="/ppt/notesMasters/notesMaster1.xml" Id="R225488a806f64203" /><Relationship Type="http://schemas.openxmlformats.org/officeDocument/2006/relationships/presProps" Target="/ppt/presProps.xml" Id="R9d3fcffde56d489c" /><Relationship Type="http://schemas.openxmlformats.org/officeDocument/2006/relationships/tableStyles" Target="/ppt/tableStyles.xml" Id="R827140c5e2cb4990" /><Relationship Type="http://schemas.openxmlformats.org/officeDocument/2006/relationships/slide" Target="/ppt/slides/slide1.xml" Id="R48906985ef6742a8" /><Relationship Type="http://schemas.openxmlformats.org/officeDocument/2006/relationships/slide" Target="/ppt/slides/slide2.xml" Id="Rdcefc4b852834ec3" /><Relationship Type="http://schemas.openxmlformats.org/officeDocument/2006/relationships/slide" Target="/ppt/slides/slide3.xml" Id="Red78ce5801744588" /><Relationship Type="http://schemas.openxmlformats.org/officeDocument/2006/relationships/slide" Target="/ppt/slides/slide4.xml" Id="Ra1ac8afd721c42c4" /><Relationship Type="http://schemas.openxmlformats.org/officeDocument/2006/relationships/slide" Target="/ppt/slides/slide5.xml" Id="Raffa5c7c26a44440" /><Relationship Type="http://schemas.openxmlformats.org/officeDocument/2006/relationships/slide" Target="/ppt/slides/slide6.xml" Id="Rc372e7c831ec44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bed4eb435647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18a1e645594b03" /><Relationship Type="http://schemas.openxmlformats.org/officeDocument/2006/relationships/notesMaster" Target="/ppt/notesMasters/notesMaster1.xml" Id="Rdabe6439de3849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a8cc4ecc204df6" /><Relationship Type="http://schemas.openxmlformats.org/officeDocument/2006/relationships/notesMaster" Target="/ppt/notesMasters/notesMaster1.xml" Id="Rbf829cc4d9e143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8a958ffcdb45ac" /><Relationship Type="http://schemas.openxmlformats.org/officeDocument/2006/relationships/notesMaster" Target="/ppt/notesMasters/notesMaster1.xml" Id="Rf125c961894f41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4eb551c00441a5" /><Relationship Type="http://schemas.openxmlformats.org/officeDocument/2006/relationships/notesMaster" Target="/ppt/notesMasters/notesMaster1.xml" Id="Rc4a8d68b4ee047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6f34a9ce9f45a1" /><Relationship Type="http://schemas.openxmlformats.org/officeDocument/2006/relationships/notesMaster" Target="/ppt/notesMasters/notesMaster1.xml" Id="Rf53aa088362a4d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105654ba394c6a" /><Relationship Type="http://schemas.openxmlformats.org/officeDocument/2006/relationships/notesMaster" Target="/ppt/notesMasters/notesMaster1.xml" Id="Rf213c9b467c448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Solo hackathon prototype prepared September 4, 2026. The user is a professional quant developer. No broker order has been submitted during development. Event: https://lablab.ai/ai-hackathons/alpaca-ai-trading-agents-hackathon . Source: project README.md and onespread/engine.py.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output/MODEL_ACCESS.md and output/model_eval_results_reasoning-json.json in https://github.com/Aldridgexia/onespread . GLM-5: 10/10 complete passing cases, 39.16-second median complete-response time, selected thinking-enabled configuration on Featherless. This is a small integration test with a test prompt; the engine prompt is different. No general model superiority or profitability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onespread/adapters.py, engine.py, domain.py and README.md. The official Alpaca CLI supplies reads; alpaca-py validates order requests; HTTPX mutations use a fixed paper endpoint. Dry run is the default. Intent is committed before a POST. Acknowledgement uncertainty must be reconciled. No real broker fills have been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payoff calculated as 100*(max(S-765,0)-max(S-770,0)-2). Values are synthetic, not observed market prices. For S=761 through 773: -200,-200,-200,-200,-200,-100,0,100,200,300,300,300,300. Breakeven 767; expiration loss capped at 200 and profit at 300 under the stated static payoff assumptions. Operational and assignment outcomes are not bounded by this chart. Actual engine entry premium cap is 300, width five, 7–14 DTE, one contract per leg. Source: onespread/domain.py, engine.py,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output/ALPACA_ACCESS.md, output/MODEL_ACCESS.md, tests/test_engine.py, tests/test_dashboard.py, onespread/replay.py. 22 offline tests passed at package preparation; rerun make check to verify. Replays: eligible entry, stale-quote veto, and entry through confirmed flatness. No broker order has been submitted during development; the replay is not broker verification. Hosted static demo cannot reach local credentials or journal.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https://github.com/Aldridgexia/onespread . Local quick start: uv sync --locked; make dashboard. Public source is the deliverable; hosted demo https://onespread-options-lab.alxia-biz.chatgpt.site is currently private and requires judge access before submission. Real integration runs locally. Project scope and next verification: README.md and submission/technical_onepager.md.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2d6dd6e04149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de973d62e1420c" /><Relationship Type="http://schemas.openxmlformats.org/officeDocument/2006/relationships/slideLayout" Target="/ppt/slideLayouts/slideLayout1.xml" Id="Rf4c43c3d75584d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c43c3d75584d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cf090cc3693426f" /><Relationship Type="http://schemas.openxmlformats.org/officeDocument/2006/relationships/notesSlide" Target="/ppt/notesSlides/notesSlide1.xml" Id="Rd1688ff604ef46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307e7a2a2f4138" /><Relationship Type="http://schemas.openxmlformats.org/officeDocument/2006/relationships/notesSlide" Target="/ppt/notesSlides/notesSlide2.xml" Id="R52cc2940132142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aad0341e619409a" /><Relationship Type="http://schemas.openxmlformats.org/officeDocument/2006/relationships/notesSlide" Target="/ppt/notesSlides/notesSlide3.xml" Id="Rf02eed0803af4a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c36d03b8e44008" /><Relationship Type="http://schemas.openxmlformats.org/officeDocument/2006/relationships/chart" Target="/ppt/slides/charts/chart1.xml" Id="R972878bf1e7a4fe5" /><Relationship Type="http://schemas.openxmlformats.org/officeDocument/2006/relationships/notesSlide" Target="/ppt/notesSlides/notesSlide4.xml" Id="R76a4443f3f6342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aab24c04bfa4304" /><Relationship Type="http://schemas.openxmlformats.org/officeDocument/2006/relationships/notesSlide" Target="/ppt/notesSlides/notesSlide5.xml" Id="R1176a6c0e06a482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672e9d399e84a55" /><Relationship Type="http://schemas.openxmlformats.org/officeDocument/2006/relationships/notesSlide" Target="/ppt/notesSlides/notesSlide6.xml" Id="Rb2cc85efb45a4f8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3202A"/>
                </a:solidFill>
                <a:latin typeface="Helvetica Neue"/>
                <a:ea typeface="Helvetica Neue"/>
                <a:cs typeface="Helvetica Neue"/>
              </a:rPr>
              <a:t>Illustrative 765 / 770 call spread</a:t>
            </a:r>
          </a:p>
        </c:rich>
      </c:tx>
      <c:overlay val="0"/>
      <c:txPr>
        <a:bodyPr xmlns:a="http://schemas.openxmlformats.org/drawingml/2006/main" anchorCtr="1"/>
        <a:lstStyle xmlns:a="http://schemas.openxmlformats.org/drawingml/2006/main"/>
        <a:p xmlns:a="http://schemas.openxmlformats.org/drawingml/2006/main">
          <a:pPr>
            <a:defRPr sz="1800" b="1">
              <a:solidFill>
                <a:srgbClr val="13202A"/>
              </a:solidFill>
              <a:latin typeface="Helvetica Neue"/>
              <a:ea typeface="Helvetica Neue"/>
              <a:cs typeface="Helvetica Neue"/>
            </a:defRPr>
          </a:pPr>
        </a:p>
      </c:txPr>
    </c:title>
    <c:plotArea>
      <c:lineChart>
        <c:grouping val="standard"/>
        <c:varyColors val="0"/>
        <c:ser>
          <c:idx val="0"/>
          <c:order val="0"/>
          <c:tx>
            <c:v>Expiration P&amp;L ($)</c:v>
          </c:tx>
          <c:spPr>
            <a:ln xmlns:a="http://schemas.openxmlformats.org/drawingml/2006/main" w="38100">
              <a:solidFill>
                <a:srgbClr val="426329"/>
              </a:solidFill>
            </a:ln>
          </c:spPr>
          <c:marker>
            <c:symbol val="none"/>
          </c:marker>
          <c:cat>
            <c:numRef>
              <c:f>'Chart Data'!$A$2:$A$14</c:f>
              <c:numCache>
                <c:formatCode>0</c:formatCode>
                <c:ptCount val="13"/>
                <c:pt idx="0">
                  <c:v>761</c:v>
                </c:pt>
                <c:pt idx="1">
                  <c:v>762</c:v>
                </c:pt>
                <c:pt idx="2">
                  <c:v>763</c:v>
                </c:pt>
                <c:pt idx="3">
                  <c:v>764</c:v>
                </c:pt>
                <c:pt idx="4">
                  <c:v>765</c:v>
                </c:pt>
                <c:pt idx="5">
                  <c:v>766</c:v>
                </c:pt>
                <c:pt idx="6">
                  <c:v>767</c:v>
                </c:pt>
                <c:pt idx="7">
                  <c:v>768</c:v>
                </c:pt>
                <c:pt idx="8">
                  <c:v>769</c:v>
                </c:pt>
                <c:pt idx="9">
                  <c:v>770</c:v>
                </c:pt>
                <c:pt idx="10">
                  <c:v>771</c:v>
                </c:pt>
                <c:pt idx="11">
                  <c:v>772</c:v>
                </c:pt>
                <c:pt idx="12">
                  <c:v>773</c:v>
                </c:pt>
              </c:numCache>
            </c:numRef>
          </c:cat>
          <c:val>
            <c:numRef>
              <c:f>'Chart Data'!$B$2:$B$14</c:f>
              <c:numCache>
                <c:formatCode>$0;-$0</c:formatCode>
                <c:ptCount val="13"/>
                <c:pt idx="0">
                  <c:v>-200</c:v>
                </c:pt>
                <c:pt idx="1">
                  <c:v>-200</c:v>
                </c:pt>
                <c:pt idx="2">
                  <c:v>-200</c:v>
                </c:pt>
                <c:pt idx="3">
                  <c:v>-200</c:v>
                </c:pt>
                <c:pt idx="4">
                  <c:v>-200</c:v>
                </c:pt>
                <c:pt idx="5">
                  <c:v>-100</c:v>
                </c:pt>
                <c:pt idx="6">
                  <c:v>0</c:v>
                </c:pt>
                <c:pt idx="7">
                  <c:v>100</c:v>
                </c:pt>
                <c:pt idx="8">
                  <c:v>200</c:v>
                </c:pt>
                <c:pt idx="9">
                  <c:v>300</c:v>
                </c:pt>
                <c:pt idx="10">
                  <c:v>300</c:v>
                </c:pt>
                <c:pt idx="11">
                  <c:v>300</c:v>
                </c:pt>
                <c:pt idx="12">
                  <c:v>300</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solidFill>
                      <a:srgbClr val="13202A"/>
                    </a:solidFill>
                    <a:latin typeface="Helvetica Neue"/>
                    <a:ea typeface="Helvetica Neue"/>
                    <a:cs typeface="Helvetica Neue"/>
                  </a:rPr>
                  <a:t>SPY at expiration ($)</a:t>
                </a:r>
              </a:p>
            </c:rich>
          </c:tx>
          <c:overlay val="0"/>
          <c:txPr>
            <a:bodyPr xmlns:a="http://schemas.openxmlformats.org/drawingml/2006/main" anchorCtr="1"/>
            <a:lstStyle xmlns:a="http://schemas.openxmlformats.org/drawingml/2006/main"/>
            <a:p xmlns:a="http://schemas.openxmlformats.org/drawingml/2006/main">
              <a:pPr>
                <a:defRPr sz="1500">
                  <a:solidFill>
                    <a:srgbClr val="13202A"/>
                  </a:solidFill>
                  <a:latin typeface="Helvetica Neue"/>
                  <a:ea typeface="Helvetica Neue"/>
                  <a:cs typeface="Helvetica Neue"/>
                </a:defRPr>
              </a:pPr>
            </a:p>
          </c:txPr>
        </c:title>
        <c:numFmt formatCode="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3202A"/>
                </a:solidFill>
                <a:latin typeface="Helvetica Neue"/>
                <a:ea typeface="Helvetica Neue"/>
                <a:cs typeface="Helvetica Neue"/>
              </a:defRPr>
            </a:pPr>
          </a:p>
        </c:txPr>
        <c:crossAx val="48672768"/>
      </c:catAx>
      <c:valAx>
        <c:axId val="48672768"/>
        <c:scaling>
          <c:orientation val="minMax"/>
          <c:max val="300"/>
          <c:min val="-200"/>
        </c:scaling>
        <c:delete val="0"/>
        <c:axPos val="l"/>
        <c:majorGridlines>
          <c:spPr>
            <a:ln xmlns:a="http://schemas.openxmlformats.org/drawingml/2006/main" w="9525">
              <a:solidFill>
                <a:srgbClr val="D4D9CE"/>
              </a:solidFill>
            </a:ln>
          </c:spPr>
        </c:majorGridlines>
        <c:title>
          <c:tx>
            <c:rich>
              <a:bodyPr xmlns:a="http://schemas.openxmlformats.org/drawingml/2006/main"/>
              <a:lstStyle xmlns:a="http://schemas.openxmlformats.org/drawingml/2006/main"/>
              <a:p xmlns:a="http://schemas.openxmlformats.org/drawingml/2006/main">
                <a:r>
                  <a:rPr sz="1500">
                    <a:solidFill>
                      <a:srgbClr val="13202A"/>
                    </a:solidFill>
                    <a:latin typeface="Helvetica Neue"/>
                    <a:ea typeface="Helvetica Neue"/>
                    <a:cs typeface="Helvetica Neue"/>
                  </a:rPr>
                  <a:t>P&amp;L ($)</a:t>
                </a:r>
              </a:p>
            </c:rich>
          </c:tx>
          <c:overlay val="0"/>
          <c:txPr>
            <a:bodyPr xmlns:a="http://schemas.openxmlformats.org/drawingml/2006/main" anchorCtr="1"/>
            <a:lstStyle xmlns:a="http://schemas.openxmlformats.org/drawingml/2006/main"/>
            <a:p xmlns:a="http://schemas.openxmlformats.org/drawingml/2006/main">
              <a:pPr>
                <a:defRPr sz="1500">
                  <a:solidFill>
                    <a:srgbClr val="13202A"/>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3202A"/>
                </a:solidFill>
                <a:latin typeface="Helvetica Neue"/>
                <a:ea typeface="Helvetica Neue"/>
                <a:cs typeface="Helvetica Neue"/>
              </a:defRPr>
            </a:pPr>
          </a:p>
        </c:txPr>
        <c:crossAx val="48650112"/>
        <c:crossBetween val="between"/>
        <c:majorUnit val="100"/>
      </c:valAx>
      <c:spPr>
        <a:solidFill xmlns:a="http://schemas.openxmlformats.org/drawingml/2006/main">
          <a:srgbClr val="F4F5EF"/>
        </a:solidFill>
      </c:spPr>
    </c:plotArea>
    <c:plotVisOnly val="1"/>
  </c:chart>
  <c:spPr>
    <a:solidFill xmlns:a="http://schemas.openxmlformats.org/drawingml/2006/main">
      <a:srgbClr val="F4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01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10EDA3-8ABD-4A3E-B1AB-5E69912E5E5B}"/>
              </a:ext>
            </a:extLst>
          </p:cNvPr>
          <p:cNvSpPr>
            <a:spLocks xmlns:a="http://schemas.openxmlformats.org/drawingml/2006/main" noGrp="1"/>
          </p:cNvSpPr>
          <p:nvPr/>
        </p:nvSpPr>
        <p:spPr>
          <a:xfrm xmlns:a="http://schemas.openxmlformats.org/drawingml/2006/main">
            <a:off x="609600" y="3333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F6A"/>
                </a:solidFill>
                <a:latin typeface="Helvetica Neue"/>
                <a:ea typeface="Helvetica Neue"/>
                <a:cs typeface="Helvetica Neue"/>
              </a:defRPr>
            </a:pPr>
            <a:r>
              <a:rPr sz="1350" b="1">
                <a:solidFill>
                  <a:srgbClr val="B7EF6A"/>
                </a:solidFill>
                <a:latin typeface="Helvetica Neue"/>
                <a:ea typeface="Helvetica Neue"/>
                <a:cs typeface="Helvetica Neue"/>
              </a:rPr>
              <a:t>SOLO-BUILT • SEPTEMBER 2026</a:t>
            </a:r>
          </a:p>
        </p:txBody>
      </p:sp>
      <p:sp>
        <p:nvSpPr>
          <p:cNvPr id="2" name="">
            <a:extLst xmlns:a="http://schemas.openxmlformats.org/drawingml/2006/main">
              <a:ext uri="{FF2B5EF4-FFF2-40B4-BE49-F238E27FC236}">
                <a16:creationId xmlns:a16="http://schemas.microsoft.com/office/drawing/2014/main" id="{77F066F5-4C25-4F3A-A98E-505BD318E5A2}"/>
              </a:ext>
            </a:extLst>
          </p:cNvPr>
          <p:cNvSpPr>
            <a:spLocks xmlns:a="http://schemas.openxmlformats.org/drawingml/2006/main" noGrp="1"/>
          </p:cNvSpPr>
          <p:nvPr/>
        </p:nvSpPr>
        <p:spPr>
          <a:xfrm xmlns:a="http://schemas.openxmlformats.org/drawingml/2006/main">
            <a:off x="609600" y="641032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AB6C4"/>
                </a:solidFill>
                <a:latin typeface="Helvetica Neue"/>
                <a:ea typeface="Helvetica Neue"/>
                <a:cs typeface="Helvetica Neue"/>
              </a:defRPr>
            </a:pPr>
            <a:r>
              <a:rPr sz="1125" b="0">
                <a:solidFill>
                  <a:srgbClr val="AAB6C4"/>
                </a:solidFill>
                <a:latin typeface="Helvetica Neue"/>
                <a:ea typeface="Helvetica Neue"/>
                <a:cs typeface="Helvetica Neue"/>
              </a:rPr>
              <a:t>ONESPREAD  /  ALPACA AI TRADING AGENTS HACKATHON</a:t>
            </a:r>
          </a:p>
        </p:txBody>
      </p:sp>
      <p:sp>
        <p:nvSpPr>
          <p:cNvPr id="3" name="">
            <a:extLst xmlns:a="http://schemas.openxmlformats.org/drawingml/2006/main">
              <a:ext uri="{FF2B5EF4-FFF2-40B4-BE49-F238E27FC236}">
                <a16:creationId xmlns:a16="http://schemas.microsoft.com/office/drawing/2014/main" id="{44841BE1-4444-47A3-9BF9-2AA8D46C1770}"/>
              </a:ext>
            </a:extLst>
          </p:cNvPr>
          <p:cNvSpPr>
            <a:spLocks xmlns:a="http://schemas.openxmlformats.org/drawingml/2006/main" noGrp="1"/>
          </p:cNvSpPr>
          <p:nvPr/>
        </p:nvSpPr>
        <p:spPr>
          <a:xfrm xmlns:a="http://schemas.openxmlformats.org/drawingml/2006/main">
            <a:off x="11144250" y="63627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AB6C4"/>
                </a:solidFill>
                <a:latin typeface="Helvetica Neue"/>
                <a:ea typeface="Helvetica Neue"/>
                <a:cs typeface="Helvetica Neue"/>
              </a:defRPr>
            </a:pPr>
            <a:r>
              <a:rPr sz="1500" b="0">
                <a:solidFill>
                  <a:srgbClr val="AAB6C4"/>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848A795B-4A37-4DA3-878B-9FB5F91EF8D4}"/>
              </a:ext>
            </a:extLst>
          </p:cNvPr>
          <p:cNvSpPr>
            <a:spLocks xmlns:a="http://schemas.openxmlformats.org/drawingml/2006/main" noGrp="1"/>
          </p:cNvSpPr>
          <p:nvPr/>
        </p:nvSpPr>
        <p:spPr>
          <a:xfrm xmlns:a="http://schemas.openxmlformats.org/drawingml/2006/main">
            <a:off x="590550" y="13811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800" b="1">
                <a:solidFill>
                  <a:srgbClr val="EFF3F6"/>
                </a:solidFill>
                <a:latin typeface="Helvetica Neue"/>
                <a:ea typeface="Helvetica Neue"/>
                <a:cs typeface="Helvetica Neue"/>
              </a:defRPr>
            </a:pPr>
            <a:r>
              <a:rPr sz="7800" b="1">
                <a:solidFill>
                  <a:srgbClr val="EFF3F6"/>
                </a:solidFill>
                <a:latin typeface="Helvetica Neue"/>
                <a:ea typeface="Helvetica Neue"/>
                <a:cs typeface="Helvetica Neue"/>
              </a:rPr>
              <a:t>OneSpread</a:t>
            </a:r>
          </a:p>
        </p:txBody>
      </p:sp>
      <p:sp>
        <p:nvSpPr>
          <p:cNvPr id="5" name="">
            <a:extLst xmlns:a="http://schemas.openxmlformats.org/drawingml/2006/main">
              <a:ext uri="{FF2B5EF4-FFF2-40B4-BE49-F238E27FC236}">
                <a16:creationId xmlns:a16="http://schemas.microsoft.com/office/drawing/2014/main" id="{C808FB72-3868-4133-8976-A593A2D7BAF6}"/>
              </a:ext>
            </a:extLst>
          </p:cNvPr>
          <p:cNvSpPr>
            <a:spLocks xmlns:a="http://schemas.openxmlformats.org/drawingml/2006/main" noGrp="1"/>
          </p:cNvSpPr>
          <p:nvPr/>
        </p:nvSpPr>
        <p:spPr>
          <a:xfrm xmlns:a="http://schemas.openxmlformats.org/drawingml/2006/main">
            <a:off x="638175" y="2914650"/>
            <a:ext cx="10572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EFF3F6"/>
                </a:solidFill>
                <a:latin typeface="Helvetica Neue"/>
                <a:ea typeface="Helvetica Neue"/>
                <a:cs typeface="Helvetica Neue"/>
              </a:defRPr>
            </a:pPr>
            <a:r>
              <a:rPr sz="3225" b="0">
                <a:solidFill>
                  <a:srgbClr val="EFF3F6"/>
                </a:solidFill>
                <a:latin typeface="Helvetica Neue"/>
                <a:ea typeface="Helvetica Neue"/>
                <a:cs typeface="Helvetica Neue"/>
              </a:rPr>
              <a:t>AI-assisted options decisions</a:t>
            </a:r>
          </a:p>
          <a:p xmlns:a="http://schemas.openxmlformats.org/drawingml/2006/main">
            <a:pPr>
              <a:defRPr sz="3225" b="0">
                <a:solidFill>
                  <a:srgbClr val="EFF3F6"/>
                </a:solidFill>
                <a:latin typeface="Helvetica Neue"/>
                <a:ea typeface="Helvetica Neue"/>
                <a:cs typeface="Helvetica Neue"/>
              </a:defRPr>
            </a:pPr>
            <a:r>
              <a:rPr sz="3225" b="0">
                <a:solidFill>
                  <a:srgbClr val="EFF3F6"/>
                </a:solidFill>
                <a:latin typeface="Helvetica Neue"/>
                <a:ea typeface="Helvetica Neue"/>
                <a:cs typeface="Helvetica Neue"/>
              </a:rPr>
              <a:t>with an independent execution gate.</a:t>
            </a:r>
          </a:p>
        </p:txBody>
      </p:sp>
      <p:sp>
        <p:nvSpPr>
          <p:cNvPr id="6" name="">
            <a:extLst xmlns:a="http://schemas.openxmlformats.org/drawingml/2006/main">
              <a:ext uri="{FF2B5EF4-FFF2-40B4-BE49-F238E27FC236}">
                <a16:creationId xmlns:a16="http://schemas.microsoft.com/office/drawing/2014/main" id="{6BF27548-3C65-4E0A-9108-5C64100F3E49}"/>
              </a:ext>
            </a:extLst>
          </p:cNvPr>
          <p:cNvSpPr>
            <a:spLocks xmlns:a="http://schemas.openxmlformats.org/drawingml/2006/main" noGrp="1"/>
          </p:cNvSpPr>
          <p:nvPr/>
        </p:nvSpPr>
        <p:spPr>
          <a:xfrm xmlns:a="http://schemas.openxmlformats.org/drawingml/2006/main">
            <a:off x="638175" y="4857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7EF6A"/>
                </a:solidFill>
                <a:latin typeface="Helvetica Neue"/>
                <a:ea typeface="Helvetica Neue"/>
                <a:cs typeface="Helvetica Neue"/>
              </a:defRPr>
            </a:pPr>
            <a:r>
              <a:rPr sz="2325" b="0">
                <a:solidFill>
                  <a:srgbClr val="B7EF6A"/>
                </a:solidFill>
                <a:latin typeface="Helvetica Neue"/>
                <a:ea typeface="Helvetica Neue"/>
                <a:cs typeface="Helvetica Neue"/>
              </a:rPr>
              <a:t>Evidence. Proposal. Veto. Order state.</a:t>
            </a:r>
          </a:p>
        </p:txBody>
      </p:sp>
      <p:sp>
        <p:nvSpPr>
          <p:cNvPr id="7" name="">
            <a:extLst xmlns:a="http://schemas.openxmlformats.org/drawingml/2006/main">
              <a:ext uri="{FF2B5EF4-FFF2-40B4-BE49-F238E27FC236}">
                <a16:creationId xmlns:a16="http://schemas.microsoft.com/office/drawing/2014/main" id="{4A171CBA-A309-4850-9941-54811A11A32D}"/>
              </a:ext>
            </a:extLst>
          </p:cNvPr>
          <p:cNvSpPr>
            <a:spLocks xmlns:a="http://schemas.openxmlformats.org/drawingml/2006/main" noGrp="1"/>
          </p:cNvSpPr>
          <p:nvPr/>
        </p:nvSpPr>
        <p:spPr>
          <a:xfrm xmlns:a="http://schemas.openxmlformats.org/drawingml/2006/main">
            <a:off x="638175" y="56388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AB6C4"/>
                </a:solidFill>
                <a:latin typeface="Helvetica Neue"/>
                <a:ea typeface="Helvetica Neue"/>
                <a:cs typeface="Helvetica Neue"/>
              </a:defRPr>
            </a:pPr>
            <a:r>
              <a:rPr sz="1725" b="0">
                <a:solidFill>
                  <a:srgbClr val="AAB6C4"/>
                </a:solidFill>
                <a:latin typeface="Helvetica Neue"/>
                <a:ea typeface="Helvetica Neue"/>
                <a:cs typeface="Helvetica Neue"/>
              </a:rPr>
              <a:t>Paper-only prototype  •  SPY debit verticals  •  MIT source</a:t>
            </a:r>
          </a:p>
        </p:txBody>
      </p:sp>
    </p:spTree>
    <p:extLst>
      <p:ext uri="{BB962C8B-B14F-4D97-AF65-F5344CB8AC3E}">
        <p14:creationId xmlns:p14="http://schemas.microsoft.com/office/powerpoint/2010/main" val="1969476167"/>
      </p:ext>
    </p:extLst>
  </p:cSld>
</p:sld>
</file>

<file path=ppt/slides/slide2.xml><?xml version="1.0" encoding="utf-8"?>
<p:sld xmlns:p="http://schemas.openxmlformats.org/presentationml/2006/main">
  <p:cSld>
    <p:bg>
      <p:bgPr>
        <a:solidFill xmlns:a="http://schemas.openxmlformats.org/drawingml/2006/main">
          <a:srgbClr val="0B101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A52DACC-56B5-43E0-AFFB-6BCFA0B62451}"/>
              </a:ext>
            </a:extLst>
          </p:cNvPr>
          <p:cNvSpPr>
            <a:spLocks xmlns:a="http://schemas.openxmlformats.org/drawingml/2006/main" noGrp="1"/>
          </p:cNvSpPr>
          <p:nvPr/>
        </p:nvSpPr>
        <p:spPr>
          <a:xfrm xmlns:a="http://schemas.openxmlformats.org/drawingml/2006/main">
            <a:off x="609600" y="3333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F6A"/>
                </a:solidFill>
                <a:latin typeface="Helvetica Neue"/>
                <a:ea typeface="Helvetica Neue"/>
                <a:cs typeface="Helvetica Neue"/>
              </a:defRPr>
            </a:pPr>
            <a:r>
              <a:rPr sz="1350" b="1">
                <a:solidFill>
                  <a:srgbClr val="B7EF6A"/>
                </a:solidFill>
                <a:latin typeface="Helvetica Neue"/>
                <a:ea typeface="Helvetica Neue"/>
                <a:cs typeface="Helvetica Neue"/>
              </a:rPr>
              <a:t>THE EXECUTION PROBLEM</a:t>
            </a:r>
          </a:p>
        </p:txBody>
      </p:sp>
      <p:sp>
        <p:nvSpPr>
          <p:cNvPr id="2" name="">
            <a:extLst xmlns:a="http://schemas.openxmlformats.org/drawingml/2006/main">
              <a:ext uri="{FF2B5EF4-FFF2-40B4-BE49-F238E27FC236}">
                <a16:creationId xmlns:a16="http://schemas.microsoft.com/office/drawing/2014/main" id="{A6D04DCF-2B39-4EE0-8A56-713B1A019CDE}"/>
              </a:ext>
            </a:extLst>
          </p:cNvPr>
          <p:cNvSpPr>
            <a:spLocks xmlns:a="http://schemas.openxmlformats.org/drawingml/2006/main" noGrp="1"/>
          </p:cNvSpPr>
          <p:nvPr/>
        </p:nvSpPr>
        <p:spPr>
          <a:xfrm xmlns:a="http://schemas.openxmlformats.org/drawingml/2006/main">
            <a:off x="609600" y="828675"/>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EFF3F6"/>
                </a:solidFill>
                <a:latin typeface="Helvetica Neue"/>
                <a:ea typeface="Helvetica Neue"/>
                <a:cs typeface="Helvetica Neue"/>
              </a:defRPr>
            </a:pPr>
            <a:r>
              <a:rPr sz="3600" b="1">
                <a:solidFill>
                  <a:srgbClr val="EFF3F6"/>
                </a:solidFill>
                <a:latin typeface="Helvetica Neue"/>
                <a:ea typeface="Helvetica Neue"/>
                <a:cs typeface="Helvetica Neue"/>
              </a:rPr>
              <a:t>Prices can change while the model thinks.</a:t>
            </a:r>
          </a:p>
        </p:txBody>
      </p:sp>
      <p:sp>
        <p:nvSpPr>
          <p:cNvPr id="3" name="">
            <a:extLst xmlns:a="http://schemas.openxmlformats.org/drawingml/2006/main">
              <a:ext uri="{FF2B5EF4-FFF2-40B4-BE49-F238E27FC236}">
                <a16:creationId xmlns:a16="http://schemas.microsoft.com/office/drawing/2014/main" id="{F77CD8D3-8303-4A30-ACAF-D92C4D540582}"/>
              </a:ext>
            </a:extLst>
          </p:cNvPr>
          <p:cNvSpPr>
            <a:spLocks xmlns:a="http://schemas.openxmlformats.org/drawingml/2006/main" noGrp="1"/>
          </p:cNvSpPr>
          <p:nvPr/>
        </p:nvSpPr>
        <p:spPr>
          <a:xfrm xmlns:a="http://schemas.openxmlformats.org/drawingml/2006/main">
            <a:off x="609600" y="641032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AB6C4"/>
                </a:solidFill>
                <a:latin typeface="Helvetica Neue"/>
                <a:ea typeface="Helvetica Neue"/>
                <a:cs typeface="Helvetica Neue"/>
              </a:defRPr>
            </a:pPr>
            <a:r>
              <a:rPr sz="1125" b="0">
                <a:solidFill>
                  <a:srgbClr val="AAB6C4"/>
                </a:solidFill>
                <a:latin typeface="Helvetica Neue"/>
                <a:ea typeface="Helvetica Neue"/>
                <a:cs typeface="Helvetica Neue"/>
              </a:rPr>
              <a:t>ONESPREAD  /  ALPACA AI TRADING AGENTS HACKATHON</a:t>
            </a:r>
          </a:p>
        </p:txBody>
      </p:sp>
      <p:sp>
        <p:nvSpPr>
          <p:cNvPr id="4" name="">
            <a:extLst xmlns:a="http://schemas.openxmlformats.org/drawingml/2006/main">
              <a:ext uri="{FF2B5EF4-FFF2-40B4-BE49-F238E27FC236}">
                <a16:creationId xmlns:a16="http://schemas.microsoft.com/office/drawing/2014/main" id="{139CB39E-7F3E-4CF8-B647-0B5F8180E92D}"/>
              </a:ext>
            </a:extLst>
          </p:cNvPr>
          <p:cNvSpPr>
            <a:spLocks xmlns:a="http://schemas.openxmlformats.org/drawingml/2006/main" noGrp="1"/>
          </p:cNvSpPr>
          <p:nvPr/>
        </p:nvSpPr>
        <p:spPr>
          <a:xfrm xmlns:a="http://schemas.openxmlformats.org/drawingml/2006/main">
            <a:off x="11144250" y="63627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AB6C4"/>
                </a:solidFill>
                <a:latin typeface="Helvetica Neue"/>
                <a:ea typeface="Helvetica Neue"/>
                <a:cs typeface="Helvetica Neue"/>
              </a:defRPr>
            </a:pPr>
            <a:r>
              <a:rPr sz="1500" b="0">
                <a:solidFill>
                  <a:srgbClr val="AAB6C4"/>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330DE47-08F7-4336-A00E-ACFD91F2CE5C}"/>
              </a:ext>
            </a:extLst>
          </p:cNvPr>
          <p:cNvSpPr>
            <a:spLocks xmlns:a="http://schemas.openxmlformats.org/drawingml/2006/main" noGrp="1"/>
          </p:cNvSpPr>
          <p:nvPr/>
        </p:nvSpPr>
        <p:spPr>
          <a:xfrm xmlns:a="http://schemas.openxmlformats.org/drawingml/2006/main">
            <a:off x="600075" y="2247900"/>
            <a:ext cx="4572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75" b="1">
                <a:solidFill>
                  <a:srgbClr val="B7EF6A"/>
                </a:solidFill>
                <a:latin typeface="Helvetica Neue"/>
                <a:ea typeface="Helvetica Neue"/>
                <a:cs typeface="Helvetica Neue"/>
              </a:defRPr>
            </a:pPr>
            <a:r>
              <a:rPr sz="6675" b="1">
                <a:solidFill>
                  <a:srgbClr val="B7EF6A"/>
                </a:solidFill>
                <a:latin typeface="Helvetica Neue"/>
                <a:ea typeface="Helvetica Neue"/>
                <a:cs typeface="Helvetica Neue"/>
              </a:rPr>
              <a:t>39.16 s</a:t>
            </a:r>
          </a:p>
        </p:txBody>
      </p:sp>
      <p:sp>
        <p:nvSpPr>
          <p:cNvPr id="6" name="">
            <a:extLst xmlns:a="http://schemas.openxmlformats.org/drawingml/2006/main">
              <a:ext uri="{FF2B5EF4-FFF2-40B4-BE49-F238E27FC236}">
                <a16:creationId xmlns:a16="http://schemas.microsoft.com/office/drawing/2014/main" id="{337BFC9B-9C44-4AEC-A3B0-FA6B10B18B0B}"/>
              </a:ext>
            </a:extLst>
          </p:cNvPr>
          <p:cNvSpPr>
            <a:spLocks xmlns:a="http://schemas.openxmlformats.org/drawingml/2006/main" noGrp="1"/>
          </p:cNvSpPr>
          <p:nvPr/>
        </p:nvSpPr>
        <p:spPr>
          <a:xfrm xmlns:a="http://schemas.openxmlformats.org/drawingml/2006/main">
            <a:off x="657225" y="3514725"/>
            <a:ext cx="4857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FF3F6"/>
                </a:solidFill>
                <a:latin typeface="Helvetica Neue"/>
                <a:ea typeface="Helvetica Neue"/>
                <a:cs typeface="Helvetica Neue"/>
              </a:defRPr>
            </a:pPr>
            <a:r>
              <a:rPr sz="2175" b="0">
                <a:solidFill>
                  <a:srgbClr val="EFF3F6"/>
                </a:solidFill>
                <a:latin typeface="Helvetica Neue"/>
                <a:ea typeface="Helvetica Neue"/>
                <a:cs typeface="Helvetica Neue"/>
              </a:rPr>
              <a:t>median response in the selected</a:t>
            </a:r>
          </a:p>
          <a:p xmlns:a="http://schemas.openxmlformats.org/drawingml/2006/main">
            <a:pPr>
              <a:defRPr sz="2175" b="0">
                <a:solidFill>
                  <a:srgbClr val="EFF3F6"/>
                </a:solidFill>
                <a:latin typeface="Helvetica Neue"/>
                <a:ea typeface="Helvetica Neue"/>
                <a:cs typeface="Helvetica Neue"/>
              </a:defRPr>
            </a:pPr>
            <a:r>
              <a:rPr sz="2175" b="0">
                <a:solidFill>
                  <a:srgbClr val="EFF3F6"/>
                </a:solidFill>
                <a:latin typeface="Helvetica Neue"/>
                <a:ea typeface="Helvetica Neue"/>
                <a:cs typeface="Helvetica Neue"/>
              </a:rPr>
              <a:t>GLM-5 hosted configuration</a:t>
            </a:r>
          </a:p>
        </p:txBody>
      </p:sp>
      <p:sp>
        <p:nvSpPr>
          <p:cNvPr id="7" name="">
            <a:extLst xmlns:a="http://schemas.openxmlformats.org/drawingml/2006/main">
              <a:ext uri="{FF2B5EF4-FFF2-40B4-BE49-F238E27FC236}">
                <a16:creationId xmlns:a16="http://schemas.microsoft.com/office/drawing/2014/main" id="{A33EEAA9-9E22-456C-8971-BC1899981A43}"/>
              </a:ext>
            </a:extLst>
          </p:cNvPr>
          <p:cNvSpPr>
            <a:spLocks xmlns:a="http://schemas.openxmlformats.org/drawingml/2006/main" noGrp="1"/>
          </p:cNvSpPr>
          <p:nvPr/>
        </p:nvSpPr>
        <p:spPr>
          <a:xfrm xmlns:a="http://schemas.openxmlformats.org/drawingml/2006/main">
            <a:off x="6391275" y="2238375"/>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FF3F6"/>
                </a:solidFill>
                <a:latin typeface="Helvetica Neue"/>
                <a:ea typeface="Helvetica Neue"/>
                <a:cs typeface="Helvetica Neue"/>
              </a:defRPr>
            </a:pPr>
            <a:r>
              <a:rPr sz="2625" b="1">
                <a:solidFill>
                  <a:srgbClr val="EFF3F6"/>
                </a:solidFill>
                <a:latin typeface="Helvetica Neue"/>
                <a:ea typeface="Helvetica Neue"/>
                <a:cs typeface="Helvetica Neue"/>
              </a:rPr>
              <a:t>Refresh the evidence</a:t>
            </a:r>
          </a:p>
        </p:txBody>
      </p:sp>
      <p:sp>
        <p:nvSpPr>
          <p:cNvPr id="8" name="">
            <a:extLst xmlns:a="http://schemas.openxmlformats.org/drawingml/2006/main">
              <a:ext uri="{FF2B5EF4-FFF2-40B4-BE49-F238E27FC236}">
                <a16:creationId xmlns:a16="http://schemas.microsoft.com/office/drawing/2014/main" id="{36B9FF1A-AA9D-4880-9061-39F90EBBC829}"/>
              </a:ext>
            </a:extLst>
          </p:cNvPr>
          <p:cNvSpPr>
            <a:spLocks xmlns:a="http://schemas.openxmlformats.org/drawingml/2006/main" noGrp="1"/>
          </p:cNvSpPr>
          <p:nvPr/>
        </p:nvSpPr>
        <p:spPr>
          <a:xfrm xmlns:a="http://schemas.openxmlformats.org/drawingml/2006/main">
            <a:off x="6391275" y="2876550"/>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AAB6C4"/>
                </a:solidFill>
                <a:latin typeface="Helvetica Neue"/>
                <a:ea typeface="Helvetica Neue"/>
                <a:cs typeface="Helvetica Neue"/>
              </a:defRPr>
            </a:pPr>
            <a:r>
              <a:rPr sz="2100" b="0">
                <a:solidFill>
                  <a:srgbClr val="AAB6C4"/>
                </a:solidFill>
                <a:latin typeface="Helvetica Neue"/>
                <a:ea typeface="Helvetica Neue"/>
                <a:cs typeface="Helvetica Neue"/>
              </a:rPr>
              <a:t>Re-read quotes, context, and account</a:t>
            </a:r>
          </a:p>
          <a:p xmlns:a="http://schemas.openxmlformats.org/drawingml/2006/main">
            <a:pPr>
              <a:defRPr sz="2100" b="0">
                <a:solidFill>
                  <a:srgbClr val="AAB6C4"/>
                </a:solidFill>
                <a:latin typeface="Helvetica Neue"/>
                <a:ea typeface="Helvetica Neue"/>
                <a:cs typeface="Helvetica Neue"/>
              </a:defRPr>
            </a:pPr>
            <a:r>
              <a:rPr sz="2100" b="0">
                <a:solidFill>
                  <a:srgbClr val="AAB6C4"/>
                </a:solidFill>
                <a:latin typeface="Helvetica Neue"/>
                <a:ea typeface="Helvetica Neue"/>
                <a:cs typeface="Helvetica Neue"/>
              </a:rPr>
              <a:t>state after inference.</a:t>
            </a:r>
          </a:p>
        </p:txBody>
      </p:sp>
      <p:sp>
        <p:nvSpPr>
          <p:cNvPr id="9" name="">
            <a:extLst xmlns:a="http://schemas.openxmlformats.org/drawingml/2006/main">
              <a:ext uri="{FF2B5EF4-FFF2-40B4-BE49-F238E27FC236}">
                <a16:creationId xmlns:a16="http://schemas.microsoft.com/office/drawing/2014/main" id="{66AA5A8E-B426-443E-8FF7-4D62940B46B6}"/>
              </a:ext>
            </a:extLst>
          </p:cNvPr>
          <p:cNvSpPr>
            <a:spLocks xmlns:a="http://schemas.openxmlformats.org/drawingml/2006/main" noGrp="1"/>
          </p:cNvSpPr>
          <p:nvPr/>
        </p:nvSpPr>
        <p:spPr>
          <a:xfrm xmlns:a="http://schemas.openxmlformats.org/drawingml/2006/main">
            <a:off x="6391275" y="4057650"/>
            <a:ext cx="523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EFF3F6"/>
                </a:solidFill>
                <a:latin typeface="Helvetica Neue"/>
                <a:ea typeface="Helvetica Neue"/>
                <a:cs typeface="Helvetica Neue"/>
              </a:defRPr>
            </a:pPr>
            <a:r>
              <a:rPr sz="2400" b="1">
                <a:solidFill>
                  <a:srgbClr val="EFF3F6"/>
                </a:solidFill>
                <a:latin typeface="Helvetica Neue"/>
                <a:ea typeface="Helvetica Neue"/>
                <a:cs typeface="Helvetica Neue"/>
              </a:rPr>
              <a:t>Keep the decision inspectable</a:t>
            </a:r>
          </a:p>
        </p:txBody>
      </p:sp>
      <p:sp>
        <p:nvSpPr>
          <p:cNvPr id="10" name="">
            <a:extLst xmlns:a="http://schemas.openxmlformats.org/drawingml/2006/main">
              <a:ext uri="{FF2B5EF4-FFF2-40B4-BE49-F238E27FC236}">
                <a16:creationId xmlns:a16="http://schemas.microsoft.com/office/drawing/2014/main" id="{E4FD9414-BDDB-4AB6-B271-E2FB80008BF3}"/>
              </a:ext>
            </a:extLst>
          </p:cNvPr>
          <p:cNvSpPr>
            <a:spLocks xmlns:a="http://schemas.openxmlformats.org/drawingml/2006/main" noGrp="1"/>
          </p:cNvSpPr>
          <p:nvPr/>
        </p:nvSpPr>
        <p:spPr>
          <a:xfrm xmlns:a="http://schemas.openxmlformats.org/drawingml/2006/main">
            <a:off x="6391275" y="4657725"/>
            <a:ext cx="5238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AAB6C4"/>
                </a:solidFill>
                <a:latin typeface="Helvetica Neue"/>
                <a:ea typeface="Helvetica Neue"/>
                <a:cs typeface="Helvetica Neue"/>
              </a:defRPr>
            </a:pPr>
            <a:r>
              <a:rPr sz="2100" b="0">
                <a:solidFill>
                  <a:srgbClr val="AAB6C4"/>
                </a:solidFill>
                <a:latin typeface="Helvetica Neue"/>
                <a:ea typeface="Helvetica Neue"/>
                <a:cs typeface="Helvetica Neue"/>
              </a:rPr>
              <a:t>Record the proposal and the exact</a:t>
            </a:r>
          </a:p>
          <a:p xmlns:a="http://schemas.openxmlformats.org/drawingml/2006/main">
            <a:pPr>
              <a:defRPr sz="2100" b="0">
                <a:solidFill>
                  <a:srgbClr val="AAB6C4"/>
                </a:solidFill>
                <a:latin typeface="Helvetica Neue"/>
                <a:ea typeface="Helvetica Neue"/>
                <a:cs typeface="Helvetica Neue"/>
              </a:defRPr>
            </a:pPr>
            <a:r>
              <a:rPr sz="2100" b="0">
                <a:solidFill>
                  <a:srgbClr val="AAB6C4"/>
                </a:solidFill>
                <a:latin typeface="Helvetica Neue"/>
                <a:ea typeface="Helvetica Neue"/>
                <a:cs typeface="Helvetica Neue"/>
              </a:rPr>
              <a:t>reason execution passed or stopped.</a:t>
            </a:r>
          </a:p>
        </p:txBody>
      </p:sp>
      <p:sp>
        <p:nvSpPr>
          <p:cNvPr id="11" name="">
            <a:extLst xmlns:a="http://schemas.openxmlformats.org/drawingml/2006/main">
              <a:ext uri="{FF2B5EF4-FFF2-40B4-BE49-F238E27FC236}">
                <a16:creationId xmlns:a16="http://schemas.microsoft.com/office/drawing/2014/main" id="{6731B9ED-0DD3-4BE6-86E2-074AF3A58964}"/>
              </a:ext>
            </a:extLst>
          </p:cNvPr>
          <p:cNvSpPr>
            <a:spLocks xmlns:a="http://schemas.openxmlformats.org/drawingml/2006/main" noGrp="1"/>
          </p:cNvSpPr>
          <p:nvPr/>
        </p:nvSpPr>
        <p:spPr>
          <a:xfrm xmlns:a="http://schemas.openxmlformats.org/drawingml/2006/main">
            <a:off x="647700" y="58197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AAB6C4"/>
                </a:solidFill>
                <a:latin typeface="Helvetica Neue"/>
                <a:ea typeface="Helvetica Neue"/>
                <a:cs typeface="Helvetica Neue"/>
              </a:defRPr>
            </a:pPr>
            <a:r>
              <a:rPr sz="1575" b="0">
                <a:solidFill>
                  <a:srgbClr val="AAB6C4"/>
                </a:solidFill>
                <a:latin typeface="Helvetica Neue"/>
                <a:ea typeface="Helvetica Neue"/>
                <a:cs typeface="Helvetica Neue"/>
              </a:rPr>
              <a:t>Ten synthetic integration cases, one attempt each. This is not a trading-performance benchmark.</a:t>
            </a:r>
          </a:p>
        </p:txBody>
      </p:sp>
    </p:spTree>
    <p:extLst>
      <p:ext uri="{BB962C8B-B14F-4D97-AF65-F5344CB8AC3E}">
        <p14:creationId xmlns:p14="http://schemas.microsoft.com/office/powerpoint/2010/main" val="1874917244"/>
      </p:ext>
    </p:extLst>
  </p:cSld>
</p:sld>
</file>

<file path=ppt/slides/slide3.xml><?xml version="1.0" encoding="utf-8"?>
<p:sld xmlns:p="http://schemas.openxmlformats.org/presentationml/2006/main">
  <p:cSld>
    <p:bg>
      <p:bgPr>
        <a:solidFill xmlns:a="http://schemas.openxmlformats.org/drawingml/2006/main">
          <a:srgbClr val="0B101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DBDDB4B-E692-4F58-8384-BE8E3BF818F5}"/>
              </a:ext>
            </a:extLst>
          </p:cNvPr>
          <p:cNvSpPr>
            <a:spLocks xmlns:a="http://schemas.openxmlformats.org/drawingml/2006/main" noGrp="1"/>
          </p:cNvSpPr>
          <p:nvPr/>
        </p:nvSpPr>
        <p:spPr>
          <a:xfrm xmlns:a="http://schemas.openxmlformats.org/drawingml/2006/main">
            <a:off x="609600" y="3333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F6A"/>
                </a:solidFill>
                <a:latin typeface="Helvetica Neue"/>
                <a:ea typeface="Helvetica Neue"/>
                <a:cs typeface="Helvetica Neue"/>
              </a:defRPr>
            </a:pPr>
            <a:r>
              <a:rPr sz="1350" b="1">
                <a:solidFill>
                  <a:srgbClr val="B7EF6A"/>
                </a:solidFill>
                <a:latin typeface="Helvetica Neue"/>
                <a:ea typeface="Helvetica Neue"/>
                <a:cs typeface="Helvetica Neue"/>
              </a:rPr>
              <a:t>THE AGENT</a:t>
            </a:r>
          </a:p>
        </p:txBody>
      </p:sp>
      <p:sp>
        <p:nvSpPr>
          <p:cNvPr id="2" name="">
            <a:extLst xmlns:a="http://schemas.openxmlformats.org/drawingml/2006/main">
              <a:ext uri="{FF2B5EF4-FFF2-40B4-BE49-F238E27FC236}">
                <a16:creationId xmlns:a16="http://schemas.microsoft.com/office/drawing/2014/main" id="{62F5EA34-9832-4949-821D-F2FBDA090DE4}"/>
              </a:ext>
            </a:extLst>
          </p:cNvPr>
          <p:cNvSpPr>
            <a:spLocks xmlns:a="http://schemas.openxmlformats.org/drawingml/2006/main" noGrp="1"/>
          </p:cNvSpPr>
          <p:nvPr/>
        </p:nvSpPr>
        <p:spPr>
          <a:xfrm xmlns:a="http://schemas.openxmlformats.org/drawingml/2006/main">
            <a:off x="609600" y="828675"/>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EFF3F6"/>
                </a:solidFill>
                <a:latin typeface="Helvetica Neue"/>
                <a:ea typeface="Helvetica Neue"/>
                <a:cs typeface="Helvetica Neue"/>
              </a:defRPr>
            </a:pPr>
            <a:r>
              <a:rPr sz="3600" b="1">
                <a:solidFill>
                  <a:srgbClr val="EFF3F6"/>
                </a:solidFill>
                <a:latin typeface="Helvetica Neue"/>
                <a:ea typeface="Helvetica Neue"/>
                <a:cs typeface="Helvetica Neue"/>
              </a:rPr>
              <a:t>A proposal must survive fresh evidence.</a:t>
            </a:r>
          </a:p>
        </p:txBody>
      </p:sp>
      <p:sp>
        <p:nvSpPr>
          <p:cNvPr id="3" name="">
            <a:extLst xmlns:a="http://schemas.openxmlformats.org/drawingml/2006/main">
              <a:ext uri="{FF2B5EF4-FFF2-40B4-BE49-F238E27FC236}">
                <a16:creationId xmlns:a16="http://schemas.microsoft.com/office/drawing/2014/main" id="{E8A117D4-607A-498F-B63C-D82F7A82CEB1}"/>
              </a:ext>
            </a:extLst>
          </p:cNvPr>
          <p:cNvSpPr>
            <a:spLocks xmlns:a="http://schemas.openxmlformats.org/drawingml/2006/main" noGrp="1"/>
          </p:cNvSpPr>
          <p:nvPr/>
        </p:nvSpPr>
        <p:spPr>
          <a:xfrm xmlns:a="http://schemas.openxmlformats.org/drawingml/2006/main">
            <a:off x="609600" y="641032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AB6C4"/>
                </a:solidFill>
                <a:latin typeface="Helvetica Neue"/>
                <a:ea typeface="Helvetica Neue"/>
                <a:cs typeface="Helvetica Neue"/>
              </a:defRPr>
            </a:pPr>
            <a:r>
              <a:rPr sz="1125" b="0">
                <a:solidFill>
                  <a:srgbClr val="AAB6C4"/>
                </a:solidFill>
                <a:latin typeface="Helvetica Neue"/>
                <a:ea typeface="Helvetica Neue"/>
                <a:cs typeface="Helvetica Neue"/>
              </a:rPr>
              <a:t>ONESPREAD  /  ALPACA AI TRADING AGENTS HACKATHON</a:t>
            </a:r>
          </a:p>
        </p:txBody>
      </p:sp>
      <p:sp>
        <p:nvSpPr>
          <p:cNvPr id="4" name="">
            <a:extLst xmlns:a="http://schemas.openxmlformats.org/drawingml/2006/main">
              <a:ext uri="{FF2B5EF4-FFF2-40B4-BE49-F238E27FC236}">
                <a16:creationId xmlns:a16="http://schemas.microsoft.com/office/drawing/2014/main" id="{5D0AC2D0-A739-4283-B0BF-C11DC7D9FB96}"/>
              </a:ext>
            </a:extLst>
          </p:cNvPr>
          <p:cNvSpPr>
            <a:spLocks xmlns:a="http://schemas.openxmlformats.org/drawingml/2006/main" noGrp="1"/>
          </p:cNvSpPr>
          <p:nvPr/>
        </p:nvSpPr>
        <p:spPr>
          <a:xfrm xmlns:a="http://schemas.openxmlformats.org/drawingml/2006/main">
            <a:off x="11144250" y="63627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AB6C4"/>
                </a:solidFill>
                <a:latin typeface="Helvetica Neue"/>
                <a:ea typeface="Helvetica Neue"/>
                <a:cs typeface="Helvetica Neue"/>
              </a:defRPr>
            </a:pPr>
            <a:r>
              <a:rPr sz="1500" b="0">
                <a:solidFill>
                  <a:srgbClr val="AAB6C4"/>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C2AA9FF1-6693-46C9-BBF2-695B70EC9D71}"/>
              </a:ext>
            </a:extLst>
          </p:cNvPr>
          <p:cNvSpPr>
            <a:spLocks xmlns:a="http://schemas.openxmlformats.org/drawingml/2006/main" noGrp="1"/>
          </p:cNvSpPr>
          <p:nvPr/>
        </p:nvSpPr>
        <p:spPr>
          <a:xfrm xmlns:a="http://schemas.openxmlformats.org/drawingml/2006/main">
            <a:off x="638175" y="2095500"/>
            <a:ext cx="704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7EF6A"/>
                </a:solidFill>
                <a:latin typeface="Helvetica Neue"/>
                <a:ea typeface="Helvetica Neue"/>
                <a:cs typeface="Helvetica Neue"/>
              </a:defRPr>
            </a:pPr>
            <a:r>
              <a:rPr sz="2250" b="1">
                <a:solidFill>
                  <a:srgbClr val="B7EF6A"/>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8082A063-3B33-4E38-ADC2-FC78E0B02238}"/>
              </a:ext>
            </a:extLst>
          </p:cNvPr>
          <p:cNvSpPr>
            <a:spLocks xmlns:a="http://schemas.openxmlformats.org/drawingml/2006/main" noGrp="1"/>
          </p:cNvSpPr>
          <p:nvPr/>
        </p:nvSpPr>
        <p:spPr>
          <a:xfrm xmlns:a="http://schemas.openxmlformats.org/drawingml/2006/main">
            <a:off x="1619250" y="209550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EFF3F6"/>
                </a:solidFill>
                <a:latin typeface="Helvetica Neue"/>
                <a:ea typeface="Helvetica Neue"/>
                <a:cs typeface="Helvetica Neue"/>
              </a:defRPr>
            </a:pPr>
            <a:r>
              <a:rPr sz="2400" b="1">
                <a:solidFill>
                  <a:srgbClr val="EFF3F6"/>
                </a:solidFill>
                <a:latin typeface="Helvetica Neue"/>
                <a:ea typeface="Helvetica Neue"/>
                <a:cs typeface="Helvetica Neue"/>
              </a:rPr>
              <a:t>Read</a:t>
            </a:r>
          </a:p>
        </p:txBody>
      </p:sp>
      <p:sp>
        <p:nvSpPr>
          <p:cNvPr id="7" name="">
            <a:extLst xmlns:a="http://schemas.openxmlformats.org/drawingml/2006/main">
              <a:ext uri="{FF2B5EF4-FFF2-40B4-BE49-F238E27FC236}">
                <a16:creationId xmlns:a16="http://schemas.microsoft.com/office/drawing/2014/main" id="{06860F87-D73E-4BBC-AB94-2E1E55C55D30}"/>
              </a:ext>
            </a:extLst>
          </p:cNvPr>
          <p:cNvSpPr>
            <a:spLocks xmlns:a="http://schemas.openxmlformats.org/drawingml/2006/main" noGrp="1"/>
          </p:cNvSpPr>
          <p:nvPr/>
        </p:nvSpPr>
        <p:spPr>
          <a:xfrm xmlns:a="http://schemas.openxmlformats.org/drawingml/2006/main">
            <a:off x="4467225" y="2095500"/>
            <a:ext cx="700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AB6C4"/>
                </a:solidFill>
                <a:latin typeface="Helvetica Neue"/>
                <a:ea typeface="Helvetica Neue"/>
                <a:cs typeface="Helvetica Neue"/>
              </a:defRPr>
            </a:pPr>
            <a:r>
              <a:rPr sz="2025" b="0">
                <a:solidFill>
                  <a:srgbClr val="AAB6C4"/>
                </a:solidFill>
                <a:latin typeface="Helvetica Neue"/>
                <a:ea typeface="Helvetica Neue"/>
                <a:cs typeface="Helvetica Neue"/>
              </a:rPr>
              <a:t>Official Alpaca CLI reads the account,</a:t>
            </a:r>
          </a:p>
          <a:p xmlns:a="http://schemas.openxmlformats.org/drawingml/2006/main">
            <a:pPr>
              <a:defRPr sz="2025" b="0">
                <a:solidFill>
                  <a:srgbClr val="AAB6C4"/>
                </a:solidFill>
                <a:latin typeface="Helvetica Neue"/>
                <a:ea typeface="Helvetica Neue"/>
                <a:cs typeface="Helvetica Neue"/>
              </a:defRPr>
            </a:pPr>
            <a:r>
              <a:rPr sz="2025" b="0">
                <a:solidFill>
                  <a:srgbClr val="AAB6C4"/>
                </a:solidFill>
                <a:latin typeface="Helvetica Neue"/>
                <a:ea typeface="Helvetica Neue"/>
                <a:cs typeface="Helvetica Neue"/>
              </a:rPr>
              <a:t>SPY options, IEX bars, and news.</a:t>
            </a:r>
          </a:p>
        </p:txBody>
      </p:sp>
      <p:sp>
        <p:nvSpPr>
          <p:cNvPr id="8" name="">
            <a:extLst xmlns:a="http://schemas.openxmlformats.org/drawingml/2006/main">
              <a:ext uri="{FF2B5EF4-FFF2-40B4-BE49-F238E27FC236}">
                <a16:creationId xmlns:a16="http://schemas.microsoft.com/office/drawing/2014/main" id="{6DBB0899-7054-46A6-936B-80074B663C8C}"/>
              </a:ext>
            </a:extLst>
          </p:cNvPr>
          <p:cNvSpPr>
            <a:spLocks xmlns:a="http://schemas.openxmlformats.org/drawingml/2006/main" noGrp="1"/>
          </p:cNvSpPr>
          <p:nvPr/>
        </p:nvSpPr>
        <p:spPr>
          <a:xfrm xmlns:a="http://schemas.openxmlformats.org/drawingml/2006/main">
            <a:off x="638175" y="3038475"/>
            <a:ext cx="704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7EF6A"/>
                </a:solidFill>
                <a:latin typeface="Helvetica Neue"/>
                <a:ea typeface="Helvetica Neue"/>
                <a:cs typeface="Helvetica Neue"/>
              </a:defRPr>
            </a:pPr>
            <a:r>
              <a:rPr sz="2250" b="1">
                <a:solidFill>
                  <a:srgbClr val="B7EF6A"/>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DD2F3DEB-03BE-4243-9A69-62AB73E4C36E}"/>
              </a:ext>
            </a:extLst>
          </p:cNvPr>
          <p:cNvSpPr>
            <a:spLocks xmlns:a="http://schemas.openxmlformats.org/drawingml/2006/main" noGrp="1"/>
          </p:cNvSpPr>
          <p:nvPr/>
        </p:nvSpPr>
        <p:spPr>
          <a:xfrm xmlns:a="http://schemas.openxmlformats.org/drawingml/2006/main">
            <a:off x="1619250" y="3038475"/>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EFF3F6"/>
                </a:solidFill>
                <a:latin typeface="Helvetica Neue"/>
                <a:ea typeface="Helvetica Neue"/>
                <a:cs typeface="Helvetica Neue"/>
              </a:defRPr>
            </a:pPr>
            <a:r>
              <a:rPr sz="2400" b="1">
                <a:solidFill>
                  <a:srgbClr val="EFF3F6"/>
                </a:solidFill>
                <a:latin typeface="Helvetica Neue"/>
                <a:ea typeface="Helvetica Neue"/>
                <a:cs typeface="Helvetica Neue"/>
              </a:rPr>
              <a:t>Propose</a:t>
            </a:r>
          </a:p>
        </p:txBody>
      </p:sp>
      <p:sp>
        <p:nvSpPr>
          <p:cNvPr id="10" name="">
            <a:extLst xmlns:a="http://schemas.openxmlformats.org/drawingml/2006/main">
              <a:ext uri="{FF2B5EF4-FFF2-40B4-BE49-F238E27FC236}">
                <a16:creationId xmlns:a16="http://schemas.microsoft.com/office/drawing/2014/main" id="{39FB237A-C458-41FD-9E3C-E74702A9B476}"/>
              </a:ext>
            </a:extLst>
          </p:cNvPr>
          <p:cNvSpPr>
            <a:spLocks xmlns:a="http://schemas.openxmlformats.org/drawingml/2006/main" noGrp="1"/>
          </p:cNvSpPr>
          <p:nvPr/>
        </p:nvSpPr>
        <p:spPr>
          <a:xfrm xmlns:a="http://schemas.openxmlformats.org/drawingml/2006/main">
            <a:off x="4467225" y="3038475"/>
            <a:ext cx="700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AB6C4"/>
                </a:solidFill>
                <a:latin typeface="Helvetica Neue"/>
                <a:ea typeface="Helvetica Neue"/>
                <a:cs typeface="Helvetica Neue"/>
              </a:defRPr>
            </a:pPr>
            <a:r>
              <a:rPr sz="2025" b="0">
                <a:solidFill>
                  <a:srgbClr val="AAB6C4"/>
                </a:solidFill>
                <a:latin typeface="Helvetica Neue"/>
                <a:ea typeface="Helvetica Neue"/>
                <a:cs typeface="Helvetica Neue"/>
              </a:rPr>
              <a:t>GLM-5 cites supplied evidence</a:t>
            </a:r>
          </a:p>
          <a:p xmlns:a="http://schemas.openxmlformats.org/drawingml/2006/main">
            <a:pPr>
              <a:defRPr sz="2025" b="0">
                <a:solidFill>
                  <a:srgbClr val="AAB6C4"/>
                </a:solidFill>
                <a:latin typeface="Helvetica Neue"/>
                <a:ea typeface="Helvetica Neue"/>
                <a:cs typeface="Helvetica Neue"/>
              </a:defRPr>
            </a:pPr>
            <a:r>
              <a:rPr sz="2025" b="0">
                <a:solidFill>
                  <a:srgbClr val="AAB6C4"/>
                </a:solidFill>
                <a:latin typeface="Helvetica Neue"/>
                <a:ea typeface="Helvetica Neue"/>
                <a:cs typeface="Helvetica Neue"/>
              </a:rPr>
              <a:t>and selects a candidate or WAIT.</a:t>
            </a:r>
          </a:p>
        </p:txBody>
      </p:sp>
      <p:sp>
        <p:nvSpPr>
          <p:cNvPr id="11" name="">
            <a:extLst xmlns:a="http://schemas.openxmlformats.org/drawingml/2006/main">
              <a:ext uri="{FF2B5EF4-FFF2-40B4-BE49-F238E27FC236}">
                <a16:creationId xmlns:a16="http://schemas.microsoft.com/office/drawing/2014/main" id="{C7F2AE2E-7995-434C-8B63-AD85E237A4BF}"/>
              </a:ext>
            </a:extLst>
          </p:cNvPr>
          <p:cNvSpPr>
            <a:spLocks xmlns:a="http://schemas.openxmlformats.org/drawingml/2006/main" noGrp="1"/>
          </p:cNvSpPr>
          <p:nvPr/>
        </p:nvSpPr>
        <p:spPr>
          <a:xfrm xmlns:a="http://schemas.openxmlformats.org/drawingml/2006/main">
            <a:off x="638175" y="3981450"/>
            <a:ext cx="704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7EF6A"/>
                </a:solidFill>
                <a:latin typeface="Helvetica Neue"/>
                <a:ea typeface="Helvetica Neue"/>
                <a:cs typeface="Helvetica Neue"/>
              </a:defRPr>
            </a:pPr>
            <a:r>
              <a:rPr sz="2250" b="1">
                <a:solidFill>
                  <a:srgbClr val="B7EF6A"/>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38900647-D802-4610-864D-8286D6D5F972}"/>
              </a:ext>
            </a:extLst>
          </p:cNvPr>
          <p:cNvSpPr>
            <a:spLocks xmlns:a="http://schemas.openxmlformats.org/drawingml/2006/main" noGrp="1"/>
          </p:cNvSpPr>
          <p:nvPr/>
        </p:nvSpPr>
        <p:spPr>
          <a:xfrm xmlns:a="http://schemas.openxmlformats.org/drawingml/2006/main">
            <a:off x="1619250" y="398145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EFF3F6"/>
                </a:solidFill>
                <a:latin typeface="Helvetica Neue"/>
                <a:ea typeface="Helvetica Neue"/>
                <a:cs typeface="Helvetica Neue"/>
              </a:defRPr>
            </a:pPr>
            <a:r>
              <a:rPr sz="2400" b="1">
                <a:solidFill>
                  <a:srgbClr val="EFF3F6"/>
                </a:solidFill>
                <a:latin typeface="Helvetica Neue"/>
                <a:ea typeface="Helvetica Neue"/>
                <a:cs typeface="Helvetica Neue"/>
              </a:rPr>
              <a:t>Recheck</a:t>
            </a:r>
          </a:p>
        </p:txBody>
      </p:sp>
      <p:sp>
        <p:nvSpPr>
          <p:cNvPr id="13" name="">
            <a:extLst xmlns:a="http://schemas.openxmlformats.org/drawingml/2006/main">
              <a:ext uri="{FF2B5EF4-FFF2-40B4-BE49-F238E27FC236}">
                <a16:creationId xmlns:a16="http://schemas.microsoft.com/office/drawing/2014/main" id="{783FFF03-D4E2-477E-8CBA-70B62CB1F1E9}"/>
              </a:ext>
            </a:extLst>
          </p:cNvPr>
          <p:cNvSpPr>
            <a:spLocks xmlns:a="http://schemas.openxmlformats.org/drawingml/2006/main" noGrp="1"/>
          </p:cNvSpPr>
          <p:nvPr/>
        </p:nvSpPr>
        <p:spPr>
          <a:xfrm xmlns:a="http://schemas.openxmlformats.org/drawingml/2006/main">
            <a:off x="4467225" y="3981450"/>
            <a:ext cx="700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AB6C4"/>
                </a:solidFill>
                <a:latin typeface="Helvetica Neue"/>
                <a:ea typeface="Helvetica Neue"/>
                <a:cs typeface="Helvetica Neue"/>
              </a:defRPr>
            </a:pPr>
            <a:r>
              <a:rPr sz="2025" b="0">
                <a:solidFill>
                  <a:srgbClr val="AAB6C4"/>
                </a:solidFill>
                <a:latin typeface="Helvetica Neue"/>
                <a:ea typeface="Helvetica Neue"/>
                <a:cs typeface="Helvetica Neue"/>
              </a:rPr>
              <a:t>Code refreshes inputs and applies</a:t>
            </a:r>
          </a:p>
          <a:p xmlns:a="http://schemas.openxmlformats.org/drawingml/2006/main">
            <a:pPr>
              <a:defRPr sz="2025" b="0">
                <a:solidFill>
                  <a:srgbClr val="AAB6C4"/>
                </a:solidFill>
                <a:latin typeface="Helvetica Neue"/>
                <a:ea typeface="Helvetica Neue"/>
                <a:cs typeface="Helvetica Neue"/>
              </a:defRPr>
            </a:pPr>
            <a:r>
              <a:rPr sz="2025" b="0">
                <a:solidFill>
                  <a:srgbClr val="AAB6C4"/>
                </a:solidFill>
                <a:latin typeface="Helvetica Neue"/>
                <a:ea typeface="Helvetica Neue"/>
                <a:cs typeface="Helvetica Neue"/>
              </a:rPr>
              <a:t>price, exposure, and calendar gates.</a:t>
            </a:r>
          </a:p>
        </p:txBody>
      </p:sp>
      <p:sp>
        <p:nvSpPr>
          <p:cNvPr id="14" name="">
            <a:extLst xmlns:a="http://schemas.openxmlformats.org/drawingml/2006/main">
              <a:ext uri="{FF2B5EF4-FFF2-40B4-BE49-F238E27FC236}">
                <a16:creationId xmlns:a16="http://schemas.microsoft.com/office/drawing/2014/main" id="{7609B992-DC17-4167-84B9-F5A05B47AEB7}"/>
              </a:ext>
            </a:extLst>
          </p:cNvPr>
          <p:cNvSpPr>
            <a:spLocks xmlns:a="http://schemas.openxmlformats.org/drawingml/2006/main" noGrp="1"/>
          </p:cNvSpPr>
          <p:nvPr/>
        </p:nvSpPr>
        <p:spPr>
          <a:xfrm xmlns:a="http://schemas.openxmlformats.org/drawingml/2006/main">
            <a:off x="638175" y="4924425"/>
            <a:ext cx="704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7EF6A"/>
                </a:solidFill>
                <a:latin typeface="Helvetica Neue"/>
                <a:ea typeface="Helvetica Neue"/>
                <a:cs typeface="Helvetica Neue"/>
              </a:defRPr>
            </a:pPr>
            <a:r>
              <a:rPr sz="2250" b="1">
                <a:solidFill>
                  <a:srgbClr val="B7EF6A"/>
                </a:solidFill>
                <a:latin typeface="Helvetica Neue"/>
                <a:ea typeface="Helvetica Neue"/>
                <a:cs typeface="Helvetica Neue"/>
              </a:rPr>
              <a:t>04</a:t>
            </a:r>
          </a:p>
        </p:txBody>
      </p:sp>
      <p:sp>
        <p:nvSpPr>
          <p:cNvPr id="15" name="">
            <a:extLst xmlns:a="http://schemas.openxmlformats.org/drawingml/2006/main">
              <a:ext uri="{FF2B5EF4-FFF2-40B4-BE49-F238E27FC236}">
                <a16:creationId xmlns:a16="http://schemas.microsoft.com/office/drawing/2014/main" id="{7A8DA742-6177-4B17-B004-1EF1AF90EA10}"/>
              </a:ext>
            </a:extLst>
          </p:cNvPr>
          <p:cNvSpPr>
            <a:spLocks xmlns:a="http://schemas.openxmlformats.org/drawingml/2006/main" noGrp="1"/>
          </p:cNvSpPr>
          <p:nvPr/>
        </p:nvSpPr>
        <p:spPr>
          <a:xfrm xmlns:a="http://schemas.openxmlformats.org/drawingml/2006/main">
            <a:off x="1619250" y="4924425"/>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EFF3F6"/>
                </a:solidFill>
                <a:latin typeface="Helvetica Neue"/>
                <a:ea typeface="Helvetica Neue"/>
                <a:cs typeface="Helvetica Neue"/>
              </a:defRPr>
            </a:pPr>
            <a:r>
              <a:rPr sz="2400" b="1">
                <a:solidFill>
                  <a:srgbClr val="EFF3F6"/>
                </a:solidFill>
                <a:latin typeface="Helvetica Neue"/>
                <a:ea typeface="Helvetica Neue"/>
                <a:cs typeface="Helvetica Neue"/>
              </a:rPr>
              <a:t>Reconcile</a:t>
            </a:r>
          </a:p>
        </p:txBody>
      </p:sp>
      <p:sp>
        <p:nvSpPr>
          <p:cNvPr id="16" name="">
            <a:extLst xmlns:a="http://schemas.openxmlformats.org/drawingml/2006/main">
              <a:ext uri="{FF2B5EF4-FFF2-40B4-BE49-F238E27FC236}">
                <a16:creationId xmlns:a16="http://schemas.microsoft.com/office/drawing/2014/main" id="{990B074D-08FD-418A-B758-A9EFC322DA4C}"/>
              </a:ext>
            </a:extLst>
          </p:cNvPr>
          <p:cNvSpPr>
            <a:spLocks xmlns:a="http://schemas.openxmlformats.org/drawingml/2006/main" noGrp="1"/>
          </p:cNvSpPr>
          <p:nvPr/>
        </p:nvSpPr>
        <p:spPr>
          <a:xfrm xmlns:a="http://schemas.openxmlformats.org/drawingml/2006/main">
            <a:off x="4467225" y="4924425"/>
            <a:ext cx="700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AB6C4"/>
                </a:solidFill>
                <a:latin typeface="Helvetica Neue"/>
                <a:ea typeface="Helvetica Neue"/>
                <a:cs typeface="Helvetica Neue"/>
              </a:defRPr>
            </a:pPr>
            <a:r>
              <a:rPr sz="2025" b="0">
                <a:solidFill>
                  <a:srgbClr val="AAB6C4"/>
                </a:solidFill>
                <a:latin typeface="Helvetica Neue"/>
                <a:ea typeface="Helvetica Neue"/>
                <a:cs typeface="Helvetica Neue"/>
              </a:rPr>
              <a:t>Commit intent, submit in paper mode,</a:t>
            </a:r>
          </a:p>
          <a:p xmlns:a="http://schemas.openxmlformats.org/drawingml/2006/main">
            <a:pPr>
              <a:defRPr sz="2025" b="0">
                <a:solidFill>
                  <a:srgbClr val="AAB6C4"/>
                </a:solidFill>
                <a:latin typeface="Helvetica Neue"/>
                <a:ea typeface="Helvetica Neue"/>
                <a:cs typeface="Helvetica Neue"/>
              </a:defRPr>
            </a:pPr>
            <a:r>
              <a:rPr sz="2025" b="0">
                <a:solidFill>
                  <a:srgbClr val="AAB6C4"/>
                </a:solidFill>
                <a:latin typeface="Helvetica Neue"/>
                <a:ea typeface="Helvetica Neue"/>
                <a:cs typeface="Helvetica Neue"/>
              </a:rPr>
              <a:t>and track broker state to confirmed flatness.</a:t>
            </a:r>
          </a:p>
        </p:txBody>
      </p:sp>
      <p:sp>
        <p:nvSpPr>
          <p:cNvPr id="17" name="">
            <a:extLst xmlns:a="http://schemas.openxmlformats.org/drawingml/2006/main">
              <a:ext uri="{FF2B5EF4-FFF2-40B4-BE49-F238E27FC236}">
                <a16:creationId xmlns:a16="http://schemas.microsoft.com/office/drawing/2014/main" id="{A4ED22B4-B8C6-4D59-9ED9-BF0374096DC7}"/>
              </a:ext>
            </a:extLst>
          </p:cNvPr>
          <p:cNvSpPr>
            <a:spLocks xmlns:a="http://schemas.openxmlformats.org/drawingml/2006/main" noGrp="1"/>
          </p:cNvSpPr>
          <p:nvPr/>
        </p:nvSpPr>
        <p:spPr>
          <a:xfrm xmlns:a="http://schemas.openxmlformats.org/drawingml/2006/main">
            <a:off x="638175" y="59436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7EF6A"/>
                </a:solidFill>
                <a:latin typeface="Helvetica Neue"/>
                <a:ea typeface="Helvetica Neue"/>
                <a:cs typeface="Helvetica Neue"/>
              </a:defRPr>
            </a:pPr>
            <a:r>
              <a:rPr sz="1575" b="0">
                <a:solidFill>
                  <a:srgbClr val="B7EF6A"/>
                </a:solidFill>
                <a:latin typeface="Helvetica Neue"/>
                <a:ea typeface="Helvetica Neue"/>
                <a:cs typeface="Helvetica Neue"/>
              </a:rPr>
              <a:t>The model has no broker tools. The journal records uncertainty before another action.</a:t>
            </a:r>
          </a:p>
        </p:txBody>
      </p:sp>
    </p:spTree>
    <p:extLst>
      <p:ext uri="{BB962C8B-B14F-4D97-AF65-F5344CB8AC3E}">
        <p14:creationId xmlns:p14="http://schemas.microsoft.com/office/powerpoint/2010/main" val="473022732"/>
      </p:ext>
    </p:extLst>
  </p:cSld>
</p:sld>
</file>

<file path=ppt/slides/slide4.xml><?xml version="1.0" encoding="utf-8"?>
<p:sld xmlns:p="http://schemas.openxmlformats.org/presentationml/2006/main">
  <p:cSld>
    <p:bg>
      <p:bgPr>
        <a:solidFill xmlns:a="http://schemas.openxmlformats.org/drawingml/2006/main">
          <a:srgbClr val="F4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C76AB8-98E9-4210-A0E0-D9C0564176B5}"/>
              </a:ext>
            </a:extLst>
          </p:cNvPr>
          <p:cNvSpPr>
            <a:spLocks xmlns:a="http://schemas.openxmlformats.org/drawingml/2006/main" noGrp="1"/>
          </p:cNvSpPr>
          <p:nvPr/>
        </p:nvSpPr>
        <p:spPr>
          <a:xfrm xmlns:a="http://schemas.openxmlformats.org/drawingml/2006/main">
            <a:off x="609600" y="3333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426329"/>
                </a:solidFill>
                <a:latin typeface="Helvetica Neue"/>
                <a:ea typeface="Helvetica Neue"/>
                <a:cs typeface="Helvetica Neue"/>
              </a:defRPr>
            </a:pPr>
            <a:r>
              <a:rPr sz="1350" b="1">
                <a:solidFill>
                  <a:srgbClr val="426329"/>
                </a:solidFill>
                <a:latin typeface="Helvetica Neue"/>
                <a:ea typeface="Helvetica Neue"/>
                <a:cs typeface="Helvetica Neue"/>
              </a:rPr>
              <a:t>STRATEGY SCOPE</a:t>
            </a:r>
          </a:p>
        </p:txBody>
      </p:sp>
      <p:sp>
        <p:nvSpPr>
          <p:cNvPr id="2" name="">
            <a:extLst xmlns:a="http://schemas.openxmlformats.org/drawingml/2006/main">
              <a:ext uri="{FF2B5EF4-FFF2-40B4-BE49-F238E27FC236}">
                <a16:creationId xmlns:a16="http://schemas.microsoft.com/office/drawing/2014/main" id="{AB6FE819-56EF-454A-9F6B-A72BE87EB153}"/>
              </a:ext>
            </a:extLst>
          </p:cNvPr>
          <p:cNvSpPr>
            <a:spLocks xmlns:a="http://schemas.openxmlformats.org/drawingml/2006/main" noGrp="1"/>
          </p:cNvSpPr>
          <p:nvPr/>
        </p:nvSpPr>
        <p:spPr>
          <a:xfrm xmlns:a="http://schemas.openxmlformats.org/drawingml/2006/main">
            <a:off x="609600" y="828675"/>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3202A"/>
                </a:solidFill>
                <a:latin typeface="Helvetica Neue"/>
                <a:ea typeface="Helvetica Neue"/>
                <a:cs typeface="Helvetica Neue"/>
              </a:defRPr>
            </a:pPr>
            <a:r>
              <a:rPr sz="3600" b="1">
                <a:solidFill>
                  <a:srgbClr val="13202A"/>
                </a:solidFill>
                <a:latin typeface="Helvetica Neue"/>
                <a:ea typeface="Helvetica Neue"/>
                <a:cs typeface="Helvetica Neue"/>
              </a:rPr>
              <a:t>One spread, explicit premium limits.</a:t>
            </a:r>
          </a:p>
        </p:txBody>
      </p:sp>
      <p:sp>
        <p:nvSpPr>
          <p:cNvPr id="3" name="">
            <a:extLst xmlns:a="http://schemas.openxmlformats.org/drawingml/2006/main">
              <a:ext uri="{FF2B5EF4-FFF2-40B4-BE49-F238E27FC236}">
                <a16:creationId xmlns:a16="http://schemas.microsoft.com/office/drawing/2014/main" id="{C0232AA1-9B92-4170-B11B-F807D5567F3F}"/>
              </a:ext>
            </a:extLst>
          </p:cNvPr>
          <p:cNvSpPr>
            <a:spLocks xmlns:a="http://schemas.openxmlformats.org/drawingml/2006/main" noGrp="1"/>
          </p:cNvSpPr>
          <p:nvPr/>
        </p:nvSpPr>
        <p:spPr>
          <a:xfrm xmlns:a="http://schemas.openxmlformats.org/drawingml/2006/main">
            <a:off x="609600" y="641032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636C"/>
                </a:solidFill>
                <a:latin typeface="Helvetica Neue"/>
                <a:ea typeface="Helvetica Neue"/>
                <a:cs typeface="Helvetica Neue"/>
              </a:defRPr>
            </a:pPr>
            <a:r>
              <a:rPr sz="1125" b="0">
                <a:solidFill>
                  <a:srgbClr val="55636C"/>
                </a:solidFill>
                <a:latin typeface="Helvetica Neue"/>
                <a:ea typeface="Helvetica Neue"/>
                <a:cs typeface="Helvetica Neue"/>
              </a:rPr>
              <a:t>ONESPREAD  /  ALPACA AI TRADING AGENTS HACKATHON</a:t>
            </a:r>
          </a:p>
        </p:txBody>
      </p:sp>
      <p:sp>
        <p:nvSpPr>
          <p:cNvPr id="4" name="">
            <a:extLst xmlns:a="http://schemas.openxmlformats.org/drawingml/2006/main">
              <a:ext uri="{FF2B5EF4-FFF2-40B4-BE49-F238E27FC236}">
                <a16:creationId xmlns:a16="http://schemas.microsoft.com/office/drawing/2014/main" id="{7DA6055B-3929-4000-AACD-D35A7D029400}"/>
              </a:ext>
            </a:extLst>
          </p:cNvPr>
          <p:cNvSpPr>
            <a:spLocks xmlns:a="http://schemas.openxmlformats.org/drawingml/2006/main" noGrp="1"/>
          </p:cNvSpPr>
          <p:nvPr/>
        </p:nvSpPr>
        <p:spPr>
          <a:xfrm xmlns:a="http://schemas.openxmlformats.org/drawingml/2006/main">
            <a:off x="11144250" y="63627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02A"/>
                </a:solidFill>
                <a:latin typeface="Helvetica Neue"/>
                <a:ea typeface="Helvetica Neue"/>
                <a:cs typeface="Helvetica Neue"/>
              </a:defRPr>
            </a:pPr>
            <a:r>
              <a:rPr sz="1500" b="0">
                <a:solidFill>
                  <a:srgbClr val="13202A"/>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1CC0677E-756F-423A-80B4-1E7776BDFE07}"/>
              </a:ext>
            </a:extLst>
          </p:cNvPr>
          <p:cNvSpPr>
            <a:spLocks xmlns:a="http://schemas.openxmlformats.org/drawingml/2006/main" noGrp="1"/>
          </p:cNvSpPr>
          <p:nvPr/>
        </p:nvSpPr>
        <p:spPr>
          <a:xfrm xmlns:a="http://schemas.openxmlformats.org/drawingml/2006/main">
            <a:off x="609600" y="2000250"/>
            <a:ext cx="447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3202A"/>
                </a:solidFill>
                <a:latin typeface="Helvetica Neue"/>
                <a:ea typeface="Helvetica Neue"/>
                <a:cs typeface="Helvetica Neue"/>
              </a:defRPr>
            </a:pPr>
            <a:r>
              <a:rPr sz="2475" b="1">
                <a:solidFill>
                  <a:srgbClr val="13202A"/>
                </a:solidFill>
                <a:latin typeface="Helvetica Neue"/>
                <a:ea typeface="Helvetica Neue"/>
                <a:cs typeface="Helvetica Neue"/>
              </a:rPr>
              <a:t>SPY debit verticals</a:t>
            </a:r>
          </a:p>
        </p:txBody>
      </p:sp>
      <p:sp>
        <p:nvSpPr>
          <p:cNvPr id="6" name="">
            <a:extLst xmlns:a="http://schemas.openxmlformats.org/drawingml/2006/main">
              <a:ext uri="{FF2B5EF4-FFF2-40B4-BE49-F238E27FC236}">
                <a16:creationId xmlns:a16="http://schemas.microsoft.com/office/drawing/2014/main" id="{FFA4D90A-6FC6-41D1-84C0-D2290E097E79}"/>
              </a:ext>
            </a:extLst>
          </p:cNvPr>
          <p:cNvSpPr>
            <a:spLocks xmlns:a="http://schemas.openxmlformats.org/drawingml/2006/main" noGrp="1"/>
          </p:cNvSpPr>
          <p:nvPr/>
        </p:nvSpPr>
        <p:spPr>
          <a:xfrm xmlns:a="http://schemas.openxmlformats.org/drawingml/2006/main">
            <a:off x="638175" y="2667000"/>
            <a:ext cx="4333875"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02A"/>
                </a:solidFill>
                <a:latin typeface="Helvetica Neue"/>
                <a:ea typeface="Helvetica Neue"/>
                <a:cs typeface="Helvetica Neue"/>
              </a:defRPr>
            </a:pPr>
            <a:r>
              <a:rPr sz="2175" b="0">
                <a:solidFill>
                  <a:srgbClr val="13202A"/>
                </a:solidFill>
                <a:latin typeface="Helvetica Neue"/>
                <a:ea typeface="Helvetica Neue"/>
                <a:cs typeface="Helvetica Neue"/>
              </a:rPr>
              <a:t>Bull call or bear put</a:t>
            </a:r>
          </a:p>
          <a:p xmlns:a="http://schemas.openxmlformats.org/drawingml/2006/main">
            <a:pPr>
              <a:defRPr sz="2175" b="0">
                <a:solidFill>
                  <a:srgbClr val="13202A"/>
                </a:solidFill>
                <a:latin typeface="Helvetica Neue"/>
                <a:ea typeface="Helvetica Neue"/>
                <a:cs typeface="Helvetica Neue"/>
              </a:defRPr>
            </a:pPr>
            <a:r>
              <a:rPr sz="2175" b="0">
                <a:solidFill>
                  <a:srgbClr val="13202A"/>
                </a:solidFill>
                <a:latin typeface="Helvetica Neue"/>
                <a:ea typeface="Helvetica Neue"/>
                <a:cs typeface="Helvetica Neue"/>
              </a:rPr>
              <a:t>7–14 days to expiry</a:t>
            </a:r>
          </a:p>
          <a:p xmlns:a="http://schemas.openxmlformats.org/drawingml/2006/main">
            <a:pPr>
              <a:defRPr sz="2175" b="0">
                <a:solidFill>
                  <a:srgbClr val="13202A"/>
                </a:solidFill>
                <a:latin typeface="Helvetica Neue"/>
                <a:ea typeface="Helvetica Neue"/>
                <a:cs typeface="Helvetica Neue"/>
              </a:defRPr>
            </a:pPr>
            <a:r>
              <a:rPr sz="2175" b="0">
                <a:solidFill>
                  <a:srgbClr val="13202A"/>
                </a:solidFill>
                <a:latin typeface="Helvetica Neue"/>
                <a:ea typeface="Helvetica Neue"/>
                <a:cs typeface="Helvetica Neue"/>
              </a:rPr>
              <a:t>Five-point strike width</a:t>
            </a:r>
          </a:p>
          <a:p xmlns:a="http://schemas.openxmlformats.org/drawingml/2006/main">
            <a:pPr>
              <a:defRPr sz="2175" b="0">
                <a:solidFill>
                  <a:srgbClr val="13202A"/>
                </a:solidFill>
                <a:latin typeface="Helvetica Neue"/>
                <a:ea typeface="Helvetica Neue"/>
                <a:cs typeface="Helvetica Neue"/>
              </a:defRPr>
            </a:pPr>
            <a:r>
              <a:rPr sz="2175" b="0">
                <a:solidFill>
                  <a:srgbClr val="13202A"/>
                </a:solidFill>
                <a:latin typeface="Helvetica Neue"/>
                <a:ea typeface="Helvetica Neue"/>
                <a:cs typeface="Helvetica Neue"/>
              </a:rPr>
              <a:t>One contract per leg</a:t>
            </a:r>
          </a:p>
        </p:txBody>
      </p:sp>
      <p:sp>
        <p:nvSpPr>
          <p:cNvPr id="7" name="">
            <a:extLst xmlns:a="http://schemas.openxmlformats.org/drawingml/2006/main">
              <a:ext uri="{FF2B5EF4-FFF2-40B4-BE49-F238E27FC236}">
                <a16:creationId xmlns:a16="http://schemas.microsoft.com/office/drawing/2014/main" id="{CADEA162-89B8-4491-8F32-7A63720E58FC}"/>
              </a:ext>
            </a:extLst>
          </p:cNvPr>
          <p:cNvSpPr>
            <a:spLocks xmlns:a="http://schemas.openxmlformats.org/drawingml/2006/main" noGrp="1"/>
          </p:cNvSpPr>
          <p:nvPr/>
        </p:nvSpPr>
        <p:spPr>
          <a:xfrm xmlns:a="http://schemas.openxmlformats.org/drawingml/2006/main">
            <a:off x="619125" y="4733925"/>
            <a:ext cx="4191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426329"/>
                </a:solidFill>
                <a:latin typeface="Helvetica Neue"/>
                <a:ea typeface="Helvetica Neue"/>
                <a:cs typeface="Helvetica Neue"/>
              </a:defRPr>
            </a:pPr>
            <a:r>
              <a:rPr sz="4950" b="1">
                <a:solidFill>
                  <a:srgbClr val="426329"/>
                </a:solidFill>
                <a:latin typeface="Helvetica Neue"/>
                <a:ea typeface="Helvetica Neue"/>
                <a:cs typeface="Helvetica Neue"/>
              </a:rPr>
              <a:t>$300</a:t>
            </a:r>
          </a:p>
        </p:txBody>
      </p:sp>
      <p:sp>
        <p:nvSpPr>
          <p:cNvPr id="8" name="">
            <a:extLst xmlns:a="http://schemas.openxmlformats.org/drawingml/2006/main">
              <a:ext uri="{FF2B5EF4-FFF2-40B4-BE49-F238E27FC236}">
                <a16:creationId xmlns:a16="http://schemas.microsoft.com/office/drawing/2014/main" id="{FBD73441-F6B5-41F8-99A7-C3C8E6F623A9}"/>
              </a:ext>
            </a:extLst>
          </p:cNvPr>
          <p:cNvSpPr>
            <a:spLocks xmlns:a="http://schemas.openxmlformats.org/drawingml/2006/main" noGrp="1"/>
          </p:cNvSpPr>
          <p:nvPr/>
        </p:nvSpPr>
        <p:spPr>
          <a:xfrm xmlns:a="http://schemas.openxmlformats.org/drawingml/2006/main">
            <a:off x="647700" y="5534025"/>
            <a:ext cx="434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3202A"/>
                </a:solidFill>
                <a:latin typeface="Helvetica Neue"/>
                <a:ea typeface="Helvetica Neue"/>
                <a:cs typeface="Helvetica Neue"/>
              </a:defRPr>
            </a:pPr>
            <a:r>
              <a:rPr sz="1725" b="0">
                <a:solidFill>
                  <a:srgbClr val="13202A"/>
                </a:solidFill>
                <a:latin typeface="Helvetica Neue"/>
                <a:ea typeface="Helvetica Neue"/>
                <a:cs typeface="Helvetica Neue"/>
              </a:rPr>
              <a:t>maximum entry premium before costs</a:t>
            </a:r>
          </a:p>
        </p:txBody>
      </p:sp>
      <p:graphicFrame>
        <p:nvGraphicFramePr>
          <p:cNvPr id="19" name="Chart"/>
          <p:cNvGraphicFramePr/>
          <p:nvPr/>
        </p:nvGraphicFramePr>
        <p:xfrm>
          <a:off xmlns:a="http://schemas.openxmlformats.org/drawingml/2006/main" x="5219700" y="1981200"/>
          <a:ext xmlns:a="http://schemas.openxmlformats.org/drawingml/2006/main" cx="6400800" cy="3743325"/>
        </p:xfrm>
        <a:graphic xmlns:a="http://schemas.openxmlformats.org/drawingml/2006/main">
          <a:graphicData uri="http://schemas.openxmlformats.org/drawingml/2006/chart">
            <c:chart xmlns:r="http://schemas.openxmlformats.org/officeDocument/2006/relationships" xmlns:c="http://schemas.openxmlformats.org/drawingml/2006/chart" r:id="R972878bf1e7a4fe5"/>
          </a:graphicData>
        </a:graphic>
      </p:graphicFrame>
      <p:sp>
        <p:nvSpPr>
          <p:cNvPr id="10" name="">
            <a:extLst xmlns:a="http://schemas.openxmlformats.org/drawingml/2006/main">
              <a:ext uri="{FF2B5EF4-FFF2-40B4-BE49-F238E27FC236}">
                <a16:creationId xmlns:a16="http://schemas.microsoft.com/office/drawing/2014/main" id="{20DCB927-8207-478D-BF99-FAE8619D0AAB}"/>
              </a:ext>
            </a:extLst>
          </p:cNvPr>
          <p:cNvSpPr>
            <a:spLocks xmlns:a="http://schemas.openxmlformats.org/drawingml/2006/main" noGrp="1"/>
          </p:cNvSpPr>
          <p:nvPr/>
        </p:nvSpPr>
        <p:spPr>
          <a:xfrm xmlns:a="http://schemas.openxmlformats.org/drawingml/2006/main">
            <a:off x="5248275" y="5781675"/>
            <a:ext cx="63150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5636C"/>
                </a:solidFill>
                <a:latin typeface="Helvetica Neue"/>
                <a:ea typeface="Helvetica Neue"/>
                <a:cs typeface="Helvetica Neue"/>
              </a:defRPr>
            </a:pPr>
            <a:r>
              <a:rPr sz="1425" b="0">
                <a:solidFill>
                  <a:srgbClr val="55636C"/>
                </a:solidFill>
                <a:latin typeface="Helvetica Neue"/>
                <a:ea typeface="Helvetica Neue"/>
                <a:cs typeface="Helvetica Neue"/>
              </a:rPr>
              <a:t>Synthetic $2.00 debit × 100. Expiration loss $200, profit cap $300.</a:t>
            </a:r>
          </a:p>
          <a:p xmlns:a="http://schemas.openxmlformats.org/drawingml/2006/main">
            <a:pPr>
              <a:defRPr sz="1425" b="0">
                <a:solidFill>
                  <a:srgbClr val="55636C"/>
                </a:solidFill>
                <a:latin typeface="Helvetica Neue"/>
                <a:ea typeface="Helvetica Neue"/>
                <a:cs typeface="Helvetica Neue"/>
              </a:defRPr>
            </a:pPr>
            <a:r>
              <a:rPr sz="1425" b="0">
                <a:solidFill>
                  <a:srgbClr val="55636C"/>
                </a:solidFill>
                <a:latin typeface="Helvetica Neue"/>
                <a:ea typeface="Helvetica Neue"/>
                <a:cs typeface="Helvetica Neue"/>
              </a:rPr>
              <a:t>Excludes costs, early assignment, and execution complications.</a:t>
            </a:r>
          </a:p>
        </p:txBody>
      </p:sp>
    </p:spTree>
    <p:extLst>
      <p:ext uri="{BB962C8B-B14F-4D97-AF65-F5344CB8AC3E}">
        <p14:creationId xmlns:p14="http://schemas.microsoft.com/office/powerpoint/2010/main" val="1482974806"/>
      </p:ext>
    </p:extLst>
  </p:cSld>
</p:sld>
</file>

<file path=ppt/slides/slide5.xml><?xml version="1.0" encoding="utf-8"?>
<p:sld xmlns:p="http://schemas.openxmlformats.org/presentationml/2006/main">
  <p:cSld>
    <p:bg>
      <p:bgPr>
        <a:solidFill xmlns:a="http://schemas.openxmlformats.org/drawingml/2006/main">
          <a:srgbClr val="0B101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21376FE-DF7C-4AFB-99C5-5F5FB120117B}"/>
              </a:ext>
            </a:extLst>
          </p:cNvPr>
          <p:cNvSpPr>
            <a:spLocks xmlns:a="http://schemas.openxmlformats.org/drawingml/2006/main" noGrp="1"/>
          </p:cNvSpPr>
          <p:nvPr/>
        </p:nvSpPr>
        <p:spPr>
          <a:xfrm xmlns:a="http://schemas.openxmlformats.org/drawingml/2006/main">
            <a:off x="609600" y="3333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F6A"/>
                </a:solidFill>
                <a:latin typeface="Helvetica Neue"/>
                <a:ea typeface="Helvetica Neue"/>
                <a:cs typeface="Helvetica Neue"/>
              </a:defRPr>
            </a:pPr>
            <a:r>
              <a:rPr sz="1350" b="1">
                <a:solidFill>
                  <a:srgbClr val="B7EF6A"/>
                </a:solidFill>
                <a:latin typeface="Helvetica Neue"/>
                <a:ea typeface="Helvetica Neue"/>
                <a:cs typeface="Helvetica Neue"/>
              </a:rPr>
              <a:t>EVIDENCE STATUS</a:t>
            </a:r>
          </a:p>
        </p:txBody>
      </p:sp>
      <p:sp>
        <p:nvSpPr>
          <p:cNvPr id="2" name="">
            <a:extLst xmlns:a="http://schemas.openxmlformats.org/drawingml/2006/main">
              <a:ext uri="{FF2B5EF4-FFF2-40B4-BE49-F238E27FC236}">
                <a16:creationId xmlns:a16="http://schemas.microsoft.com/office/drawing/2014/main" id="{82030ECE-17D4-4B59-ABDE-06DD86F3AC6C}"/>
              </a:ext>
            </a:extLst>
          </p:cNvPr>
          <p:cNvSpPr>
            <a:spLocks xmlns:a="http://schemas.openxmlformats.org/drawingml/2006/main" noGrp="1"/>
          </p:cNvSpPr>
          <p:nvPr/>
        </p:nvSpPr>
        <p:spPr>
          <a:xfrm xmlns:a="http://schemas.openxmlformats.org/drawingml/2006/main">
            <a:off x="609600" y="828675"/>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EFF3F6"/>
                </a:solidFill>
                <a:latin typeface="Helvetica Neue"/>
                <a:ea typeface="Helvetica Neue"/>
                <a:cs typeface="Helvetica Neue"/>
              </a:defRPr>
            </a:pPr>
            <a:r>
              <a:rPr sz="3600" b="1">
                <a:solidFill>
                  <a:srgbClr val="EFF3F6"/>
                </a:solidFill>
                <a:latin typeface="Helvetica Neue"/>
                <a:ea typeface="Helvetica Neue"/>
                <a:cs typeface="Helvetica Neue"/>
              </a:rPr>
              <a:t>A reproducible demo with clear limits.</a:t>
            </a:r>
          </a:p>
        </p:txBody>
      </p:sp>
      <p:sp>
        <p:nvSpPr>
          <p:cNvPr id="3" name="">
            <a:extLst xmlns:a="http://schemas.openxmlformats.org/drawingml/2006/main">
              <a:ext uri="{FF2B5EF4-FFF2-40B4-BE49-F238E27FC236}">
                <a16:creationId xmlns:a16="http://schemas.microsoft.com/office/drawing/2014/main" id="{A27A8199-52EE-4785-A3F1-662824802EEB}"/>
              </a:ext>
            </a:extLst>
          </p:cNvPr>
          <p:cNvSpPr>
            <a:spLocks xmlns:a="http://schemas.openxmlformats.org/drawingml/2006/main" noGrp="1"/>
          </p:cNvSpPr>
          <p:nvPr/>
        </p:nvSpPr>
        <p:spPr>
          <a:xfrm xmlns:a="http://schemas.openxmlformats.org/drawingml/2006/main">
            <a:off x="609600" y="641032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AB6C4"/>
                </a:solidFill>
                <a:latin typeface="Helvetica Neue"/>
                <a:ea typeface="Helvetica Neue"/>
                <a:cs typeface="Helvetica Neue"/>
              </a:defRPr>
            </a:pPr>
            <a:r>
              <a:rPr sz="1125" b="0">
                <a:solidFill>
                  <a:srgbClr val="AAB6C4"/>
                </a:solidFill>
                <a:latin typeface="Helvetica Neue"/>
                <a:ea typeface="Helvetica Neue"/>
                <a:cs typeface="Helvetica Neue"/>
              </a:rPr>
              <a:t>ONESPREAD  /  ALPACA AI TRADING AGENTS HACKATHON</a:t>
            </a:r>
          </a:p>
        </p:txBody>
      </p:sp>
      <p:sp>
        <p:nvSpPr>
          <p:cNvPr id="4" name="">
            <a:extLst xmlns:a="http://schemas.openxmlformats.org/drawingml/2006/main">
              <a:ext uri="{FF2B5EF4-FFF2-40B4-BE49-F238E27FC236}">
                <a16:creationId xmlns:a16="http://schemas.microsoft.com/office/drawing/2014/main" id="{133FC03D-B7AA-486F-BFDB-A9B18908994D}"/>
              </a:ext>
            </a:extLst>
          </p:cNvPr>
          <p:cNvSpPr>
            <a:spLocks xmlns:a="http://schemas.openxmlformats.org/drawingml/2006/main" noGrp="1"/>
          </p:cNvSpPr>
          <p:nvPr/>
        </p:nvSpPr>
        <p:spPr>
          <a:xfrm xmlns:a="http://schemas.openxmlformats.org/drawingml/2006/main">
            <a:off x="11144250" y="63627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AB6C4"/>
                </a:solidFill>
                <a:latin typeface="Helvetica Neue"/>
                <a:ea typeface="Helvetica Neue"/>
                <a:cs typeface="Helvetica Neue"/>
              </a:defRPr>
            </a:pPr>
            <a:r>
              <a:rPr sz="1500" b="0">
                <a:solidFill>
                  <a:srgbClr val="AAB6C4"/>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BEA7E87C-FA22-45D1-BBBC-82880AB4C69E}"/>
              </a:ext>
            </a:extLst>
          </p:cNvPr>
          <p:cNvSpPr>
            <a:spLocks xmlns:a="http://schemas.openxmlformats.org/drawingml/2006/main" noGrp="1"/>
          </p:cNvSpPr>
          <p:nvPr/>
        </p:nvSpPr>
        <p:spPr>
          <a:xfrm xmlns:a="http://schemas.openxmlformats.org/drawingml/2006/main">
            <a:off x="638175" y="2114550"/>
            <a:ext cx="5019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7EF6A"/>
                </a:solidFill>
                <a:latin typeface="Helvetica Neue"/>
                <a:ea typeface="Helvetica Neue"/>
                <a:cs typeface="Helvetica Neue"/>
              </a:defRPr>
            </a:pPr>
            <a:r>
              <a:rPr sz="1725" b="1">
                <a:solidFill>
                  <a:srgbClr val="B7EF6A"/>
                </a:solidFill>
                <a:latin typeface="Helvetica Neue"/>
                <a:ea typeface="Helvetica Neue"/>
                <a:cs typeface="Helvetica Neue"/>
              </a:rPr>
              <a:t>EXERCISED</a:t>
            </a:r>
          </a:p>
        </p:txBody>
      </p:sp>
      <p:sp>
        <p:nvSpPr>
          <p:cNvPr id="6" name="">
            <a:extLst xmlns:a="http://schemas.openxmlformats.org/drawingml/2006/main">
              <a:ext uri="{FF2B5EF4-FFF2-40B4-BE49-F238E27FC236}">
                <a16:creationId xmlns:a16="http://schemas.microsoft.com/office/drawing/2014/main" id="{F71BA6A7-19E9-4739-82A2-2A477AA1C1B0}"/>
              </a:ext>
            </a:extLst>
          </p:cNvPr>
          <p:cNvSpPr>
            <a:spLocks xmlns:a="http://schemas.openxmlformats.org/drawingml/2006/main" noGrp="1"/>
          </p:cNvSpPr>
          <p:nvPr/>
        </p:nvSpPr>
        <p:spPr>
          <a:xfrm xmlns:a="http://schemas.openxmlformats.org/drawingml/2006/main">
            <a:off x="638175" y="2752725"/>
            <a:ext cx="5191125" cy="2181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EFF3F6"/>
                </a:solidFill>
                <a:latin typeface="Helvetica Neue"/>
                <a:ea typeface="Helvetica Neue"/>
                <a:cs typeface="Helvetica Neue"/>
              </a:defRPr>
            </a:pPr>
            <a:r>
              <a:rPr sz="2400" b="0">
                <a:solidFill>
                  <a:srgbClr val="EFF3F6"/>
                </a:solidFill>
                <a:latin typeface="Helvetica Neue"/>
                <a:ea typeface="Helvetica Neue"/>
                <a:cs typeface="Helvetica Neue"/>
              </a:rPr>
              <a:t>Alpaca read access</a:t>
            </a:r>
          </a:p>
          <a:p xmlns:a="http://schemas.openxmlformats.org/drawingml/2006/main">
            <a:pPr>
              <a:defRPr sz="2400" b="0">
                <a:solidFill>
                  <a:srgbClr val="EFF3F6"/>
                </a:solidFill>
                <a:latin typeface="Helvetica Neue"/>
                <a:ea typeface="Helvetica Neue"/>
                <a:cs typeface="Helvetica Neue"/>
              </a:defRPr>
            </a:pPr>
            <a:r>
              <a:rPr sz="2400" b="0">
                <a:solidFill>
                  <a:srgbClr val="EFF3F6"/>
                </a:solidFill>
                <a:latin typeface="Helvetica Neue"/>
                <a:ea typeface="Helvetica Neue"/>
                <a:cs typeface="Helvetica Neue"/>
              </a:rPr>
              <a:t>Paid Featherless inference</a:t>
            </a:r>
          </a:p>
          <a:p xmlns:a="http://schemas.openxmlformats.org/drawingml/2006/main">
            <a:pPr>
              <a:defRPr sz="2400" b="0">
                <a:solidFill>
                  <a:srgbClr val="EFF3F6"/>
                </a:solidFill>
                <a:latin typeface="Helvetica Neue"/>
                <a:ea typeface="Helvetica Neue"/>
                <a:cs typeface="Helvetica Neue"/>
              </a:defRPr>
            </a:pPr>
            <a:r>
              <a:rPr sz="2400" b="0">
                <a:solidFill>
                  <a:srgbClr val="EFF3F6"/>
                </a:solidFill>
                <a:latin typeface="Helvetica Neue"/>
                <a:ea typeface="Helvetica Neue"/>
                <a:cs typeface="Helvetica Neue"/>
              </a:rPr>
              <a:t>22 offline tests</a:t>
            </a:r>
          </a:p>
          <a:p xmlns:a="http://schemas.openxmlformats.org/drawingml/2006/main">
            <a:pPr>
              <a:defRPr sz="2400" b="0">
                <a:solidFill>
                  <a:srgbClr val="EFF3F6"/>
                </a:solidFill>
                <a:latin typeface="Helvetica Neue"/>
                <a:ea typeface="Helvetica Neue"/>
                <a:cs typeface="Helvetica Neue"/>
              </a:defRPr>
            </a:pPr>
            <a:r>
              <a:rPr sz="2400" b="0">
                <a:solidFill>
                  <a:srgbClr val="EFF3F6"/>
                </a:solidFill>
                <a:latin typeface="Helvetica Neue"/>
                <a:ea typeface="Helvetica Neue"/>
                <a:cs typeface="Helvetica Neue"/>
              </a:rPr>
              <a:t>Three synthetic engine replays</a:t>
            </a:r>
          </a:p>
        </p:txBody>
      </p:sp>
      <p:sp>
        <p:nvSpPr>
          <p:cNvPr id="7" name="">
            <a:extLst xmlns:a="http://schemas.openxmlformats.org/drawingml/2006/main">
              <a:ext uri="{FF2B5EF4-FFF2-40B4-BE49-F238E27FC236}">
                <a16:creationId xmlns:a16="http://schemas.microsoft.com/office/drawing/2014/main" id="{42E43FFA-732D-4EE1-B02D-8C743DC31F88}"/>
              </a:ext>
            </a:extLst>
          </p:cNvPr>
          <p:cNvSpPr>
            <a:spLocks xmlns:a="http://schemas.openxmlformats.org/drawingml/2006/main" noGrp="1"/>
          </p:cNvSpPr>
          <p:nvPr/>
        </p:nvSpPr>
        <p:spPr>
          <a:xfrm xmlns:a="http://schemas.openxmlformats.org/drawingml/2006/main">
            <a:off x="6372225" y="211455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7EF6A"/>
                </a:solidFill>
                <a:latin typeface="Helvetica Neue"/>
                <a:ea typeface="Helvetica Neue"/>
                <a:cs typeface="Helvetica Neue"/>
              </a:defRPr>
            </a:pPr>
            <a:r>
              <a:rPr sz="1725" b="1">
                <a:solidFill>
                  <a:srgbClr val="B7EF6A"/>
                </a:solidFill>
                <a:latin typeface="Helvetica Neue"/>
                <a:ea typeface="Helvetica Neue"/>
                <a:cs typeface="Helvetica Neue"/>
              </a:rPr>
              <a:t>STILL TO VERIFY</a:t>
            </a:r>
          </a:p>
        </p:txBody>
      </p:sp>
      <p:sp>
        <p:nvSpPr>
          <p:cNvPr id="8" name="">
            <a:extLst xmlns:a="http://schemas.openxmlformats.org/drawingml/2006/main">
              <a:ext uri="{FF2B5EF4-FFF2-40B4-BE49-F238E27FC236}">
                <a16:creationId xmlns:a16="http://schemas.microsoft.com/office/drawing/2014/main" id="{F97C8BD3-1448-4BA0-B715-6A7C98C54736}"/>
              </a:ext>
            </a:extLst>
          </p:cNvPr>
          <p:cNvSpPr>
            <a:spLocks xmlns:a="http://schemas.openxmlformats.org/drawingml/2006/main" noGrp="1"/>
          </p:cNvSpPr>
          <p:nvPr/>
        </p:nvSpPr>
        <p:spPr>
          <a:xfrm xmlns:a="http://schemas.openxmlformats.org/drawingml/2006/main">
            <a:off x="6372225" y="2752725"/>
            <a:ext cx="5286375"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FF3F6"/>
                </a:solidFill>
                <a:latin typeface="Helvetica Neue"/>
                <a:ea typeface="Helvetica Neue"/>
                <a:cs typeface="Helvetica Neue"/>
              </a:defRPr>
            </a:pPr>
            <a:r>
              <a:rPr sz="2250" b="0">
                <a:solidFill>
                  <a:srgbClr val="EFF3F6"/>
                </a:solidFill>
                <a:latin typeface="Helvetica Neue"/>
                <a:ea typeface="Helvetica Neue"/>
                <a:cs typeface="Helvetica Neue"/>
              </a:rPr>
              <a:t>Actual paper submission and fills</a:t>
            </a:r>
          </a:p>
          <a:p xmlns:a="http://schemas.openxmlformats.org/drawingml/2006/main">
            <a:pPr>
              <a:defRPr sz="2250" b="0">
                <a:solidFill>
                  <a:srgbClr val="EFF3F6"/>
                </a:solidFill>
                <a:latin typeface="Helvetica Neue"/>
                <a:ea typeface="Helvetica Neue"/>
                <a:cs typeface="Helvetica Neue"/>
              </a:defRPr>
            </a:pPr>
            <a:r>
              <a:rPr sz="2250" b="0">
                <a:solidFill>
                  <a:srgbClr val="EFF3F6"/>
                </a:solidFill>
                <a:latin typeface="Helvetica Neue"/>
                <a:ea typeface="Helvetica Neue"/>
                <a:cs typeface="Helvetica Neue"/>
              </a:rPr>
              <a:t>A complete broker round trip</a:t>
            </a:r>
          </a:p>
          <a:p xmlns:a="http://schemas.openxmlformats.org/drawingml/2006/main">
            <a:pPr>
              <a:defRPr sz="2250" b="0">
                <a:solidFill>
                  <a:srgbClr val="EFF3F6"/>
                </a:solidFill>
                <a:latin typeface="Helvetica Neue"/>
                <a:ea typeface="Helvetica Neue"/>
                <a:cs typeface="Helvetica Neue"/>
              </a:defRPr>
            </a:pPr>
            <a:r>
              <a:rPr sz="2250" b="0">
                <a:solidFill>
                  <a:srgbClr val="EFF3F6"/>
                </a:solidFill>
                <a:latin typeface="Helvetica Neue"/>
                <a:ea typeface="Helvetica Neue"/>
                <a:cs typeface="Helvetica Neue"/>
              </a:rPr>
              <a:t>Executable-price behavior</a:t>
            </a:r>
          </a:p>
          <a:p xmlns:a="http://schemas.openxmlformats.org/drawingml/2006/main">
            <a:pPr>
              <a:defRPr sz="2250" b="0">
                <a:solidFill>
                  <a:srgbClr val="EFF3F6"/>
                </a:solidFill>
                <a:latin typeface="Helvetica Neue"/>
                <a:ea typeface="Helvetica Neue"/>
                <a:cs typeface="Helvetica Neue"/>
              </a:defRPr>
            </a:pPr>
            <a:r>
              <a:rPr sz="2250" b="0">
                <a:solidFill>
                  <a:srgbClr val="EFF3F6"/>
                </a:solidFill>
                <a:latin typeface="Helvetica Neue"/>
                <a:ea typeface="Helvetica Neue"/>
                <a:cs typeface="Helvetica Neue"/>
              </a:rPr>
              <a:t>Out-of-sample strategy value</a:t>
            </a:r>
          </a:p>
        </p:txBody>
      </p:sp>
      <p:sp>
        <p:nvSpPr>
          <p:cNvPr id="9" name="">
            <a:extLst xmlns:a="http://schemas.openxmlformats.org/drawingml/2006/main">
              <a:ext uri="{FF2B5EF4-FFF2-40B4-BE49-F238E27FC236}">
                <a16:creationId xmlns:a16="http://schemas.microsoft.com/office/drawing/2014/main" id="{5CD0E87A-B1EB-469C-8B85-AD33BBEAF9C3}"/>
              </a:ext>
            </a:extLst>
          </p:cNvPr>
          <p:cNvSpPr>
            <a:spLocks xmlns:a="http://schemas.openxmlformats.org/drawingml/2006/main" noGrp="1"/>
          </p:cNvSpPr>
          <p:nvPr/>
        </p:nvSpPr>
        <p:spPr>
          <a:xfrm xmlns:a="http://schemas.openxmlformats.org/drawingml/2006/main">
            <a:off x="647700" y="5438775"/>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AB6C4"/>
                </a:solidFill>
                <a:latin typeface="Helvetica Neue"/>
                <a:ea typeface="Helvetica Neue"/>
                <a:cs typeface="Helvetica Neue"/>
              </a:defRPr>
            </a:pPr>
            <a:r>
              <a:rPr sz="1875" b="0">
                <a:solidFill>
                  <a:srgbClr val="AAB6C4"/>
                </a:solidFill>
                <a:latin typeface="Helvetica Neue"/>
                <a:ea typeface="Helvetica Neue"/>
                <a:cs typeface="Helvetica Neue"/>
              </a:rPr>
              <a:t>Hosted replay uses a scripted model and fake broker.</a:t>
            </a:r>
          </a:p>
          <a:p xmlns:a="http://schemas.openxmlformats.org/drawingml/2006/main">
            <a:pPr>
              <a:defRPr sz="1875" b="0">
                <a:solidFill>
                  <a:srgbClr val="AAB6C4"/>
                </a:solidFill>
                <a:latin typeface="Helvetica Neue"/>
                <a:ea typeface="Helvetica Neue"/>
                <a:cs typeface="Helvetica Neue"/>
              </a:defRPr>
            </a:pPr>
            <a:r>
              <a:rPr sz="1875" b="0">
                <a:solidFill>
                  <a:srgbClr val="AAB6C4"/>
                </a:solidFill>
                <a:latin typeface="Helvetica Neue"/>
                <a:ea typeface="Helvetica Neue"/>
                <a:cs typeface="Helvetica Neue"/>
              </a:rPr>
              <a:t>Basic options quotes are indicative. No measured P&amp;L or alpha claim.</a:t>
            </a:r>
          </a:p>
        </p:txBody>
      </p:sp>
    </p:spTree>
    <p:extLst>
      <p:ext uri="{BB962C8B-B14F-4D97-AF65-F5344CB8AC3E}">
        <p14:creationId xmlns:p14="http://schemas.microsoft.com/office/powerpoint/2010/main" val="440905915"/>
      </p:ext>
    </p:extLst>
  </p:cSld>
</p:sld>
</file>

<file path=ppt/slides/slide6.xml><?xml version="1.0" encoding="utf-8"?>
<p:sld xmlns:p="http://schemas.openxmlformats.org/presentationml/2006/main">
  <p:cSld>
    <p:bg>
      <p:bgPr>
        <a:solidFill xmlns:a="http://schemas.openxmlformats.org/drawingml/2006/main">
          <a:srgbClr val="0B101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2C72403-F41D-419F-A4DB-199F7899D0EE}"/>
              </a:ext>
            </a:extLst>
          </p:cNvPr>
          <p:cNvSpPr>
            <a:spLocks xmlns:a="http://schemas.openxmlformats.org/drawingml/2006/main" noGrp="1"/>
          </p:cNvSpPr>
          <p:nvPr/>
        </p:nvSpPr>
        <p:spPr>
          <a:xfrm xmlns:a="http://schemas.openxmlformats.org/drawingml/2006/main">
            <a:off x="609600" y="3333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F6A"/>
                </a:solidFill>
                <a:latin typeface="Helvetica Neue"/>
                <a:ea typeface="Helvetica Neue"/>
                <a:cs typeface="Helvetica Neue"/>
              </a:defRPr>
            </a:pPr>
            <a:r>
              <a:rPr sz="1350" b="1">
                <a:solidFill>
                  <a:srgbClr val="B7EF6A"/>
                </a:solidFill>
                <a:latin typeface="Helvetica Neue"/>
                <a:ea typeface="Helvetica Neue"/>
                <a:cs typeface="Helvetica Neue"/>
              </a:rPr>
              <a:t>DELIVERABLE AND NEXT STEP</a:t>
            </a:r>
          </a:p>
        </p:txBody>
      </p:sp>
      <p:sp>
        <p:nvSpPr>
          <p:cNvPr id="2" name="">
            <a:extLst xmlns:a="http://schemas.openxmlformats.org/drawingml/2006/main">
              <a:ext uri="{FF2B5EF4-FFF2-40B4-BE49-F238E27FC236}">
                <a16:creationId xmlns:a16="http://schemas.microsoft.com/office/drawing/2014/main" id="{C253A4CF-F51F-4530-9599-319540691850}"/>
              </a:ext>
            </a:extLst>
          </p:cNvPr>
          <p:cNvSpPr>
            <a:spLocks xmlns:a="http://schemas.openxmlformats.org/drawingml/2006/main" noGrp="1"/>
          </p:cNvSpPr>
          <p:nvPr/>
        </p:nvSpPr>
        <p:spPr>
          <a:xfrm xmlns:a="http://schemas.openxmlformats.org/drawingml/2006/main">
            <a:off x="609600" y="828675"/>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EFF3F6"/>
                </a:solidFill>
                <a:latin typeface="Helvetica Neue"/>
                <a:ea typeface="Helvetica Neue"/>
                <a:cs typeface="Helvetica Neue"/>
              </a:defRPr>
            </a:pPr>
            <a:r>
              <a:rPr sz="3600" b="1">
                <a:solidFill>
                  <a:srgbClr val="EFF3F6"/>
                </a:solidFill>
                <a:latin typeface="Helvetica Neue"/>
                <a:ea typeface="Helvetica Neue"/>
                <a:cs typeface="Helvetica Neue"/>
              </a:rPr>
              <a:t>Inspect the proposal. Understand the veto.</a:t>
            </a:r>
          </a:p>
        </p:txBody>
      </p:sp>
      <p:sp>
        <p:nvSpPr>
          <p:cNvPr id="3" name="">
            <a:extLst xmlns:a="http://schemas.openxmlformats.org/drawingml/2006/main">
              <a:ext uri="{FF2B5EF4-FFF2-40B4-BE49-F238E27FC236}">
                <a16:creationId xmlns:a16="http://schemas.microsoft.com/office/drawing/2014/main" id="{2ECCEE16-32CA-43D2-9B5E-007BE9EAE873}"/>
              </a:ext>
            </a:extLst>
          </p:cNvPr>
          <p:cNvSpPr>
            <a:spLocks xmlns:a="http://schemas.openxmlformats.org/drawingml/2006/main" noGrp="1"/>
          </p:cNvSpPr>
          <p:nvPr/>
        </p:nvSpPr>
        <p:spPr>
          <a:xfrm xmlns:a="http://schemas.openxmlformats.org/drawingml/2006/main">
            <a:off x="609600" y="6410325"/>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AB6C4"/>
                </a:solidFill>
                <a:latin typeface="Helvetica Neue"/>
                <a:ea typeface="Helvetica Neue"/>
                <a:cs typeface="Helvetica Neue"/>
              </a:defRPr>
            </a:pPr>
            <a:r>
              <a:rPr sz="1125" b="0">
                <a:solidFill>
                  <a:srgbClr val="AAB6C4"/>
                </a:solidFill>
                <a:latin typeface="Helvetica Neue"/>
                <a:ea typeface="Helvetica Neue"/>
                <a:cs typeface="Helvetica Neue"/>
              </a:rPr>
              <a:t>ONESPREAD  /  ALPACA AI TRADING AGENTS HACKATHON</a:t>
            </a:r>
          </a:p>
        </p:txBody>
      </p:sp>
      <p:sp>
        <p:nvSpPr>
          <p:cNvPr id="4" name="">
            <a:extLst xmlns:a="http://schemas.openxmlformats.org/drawingml/2006/main">
              <a:ext uri="{FF2B5EF4-FFF2-40B4-BE49-F238E27FC236}">
                <a16:creationId xmlns:a16="http://schemas.microsoft.com/office/drawing/2014/main" id="{6B527621-43A1-4ABD-BE23-D7C06183FC83}"/>
              </a:ext>
            </a:extLst>
          </p:cNvPr>
          <p:cNvSpPr>
            <a:spLocks xmlns:a="http://schemas.openxmlformats.org/drawingml/2006/main" noGrp="1"/>
          </p:cNvSpPr>
          <p:nvPr/>
        </p:nvSpPr>
        <p:spPr>
          <a:xfrm xmlns:a="http://schemas.openxmlformats.org/drawingml/2006/main">
            <a:off x="11144250" y="63627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AB6C4"/>
                </a:solidFill>
                <a:latin typeface="Helvetica Neue"/>
                <a:ea typeface="Helvetica Neue"/>
                <a:cs typeface="Helvetica Neue"/>
              </a:defRPr>
            </a:pPr>
            <a:r>
              <a:rPr sz="1500" b="0">
                <a:solidFill>
                  <a:srgbClr val="AAB6C4"/>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4393EB5D-E731-4223-90BD-D65E22D800D0}"/>
              </a:ext>
            </a:extLst>
          </p:cNvPr>
          <p:cNvSpPr>
            <a:spLocks xmlns:a="http://schemas.openxmlformats.org/drawingml/2006/main" noGrp="1"/>
          </p:cNvSpPr>
          <p:nvPr/>
        </p:nvSpPr>
        <p:spPr>
          <a:xfrm xmlns:a="http://schemas.openxmlformats.org/drawingml/2006/main">
            <a:off x="628650" y="2209800"/>
            <a:ext cx="5191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EFF3F6"/>
                </a:solidFill>
                <a:latin typeface="Helvetica Neue"/>
                <a:ea typeface="Helvetica Neue"/>
                <a:cs typeface="Helvetica Neue"/>
              </a:defRPr>
            </a:pPr>
            <a:r>
              <a:rPr sz="2775" b="1">
                <a:solidFill>
                  <a:srgbClr val="EFF3F6"/>
                </a:solidFill>
                <a:latin typeface="Helvetica Neue"/>
                <a:ea typeface="Helvetica Neue"/>
                <a:cs typeface="Helvetica Neue"/>
              </a:rPr>
              <a:t>Try the replay</a:t>
            </a:r>
          </a:p>
        </p:txBody>
      </p:sp>
      <p:sp>
        <p:nvSpPr>
          <p:cNvPr id="6" name="">
            <a:extLst xmlns:a="http://schemas.openxmlformats.org/drawingml/2006/main">
              <a:ext uri="{FF2B5EF4-FFF2-40B4-BE49-F238E27FC236}">
                <a16:creationId xmlns:a16="http://schemas.microsoft.com/office/drawing/2014/main" id="{FC39ABC1-89F6-45DA-A3BE-2EBEE82D3B1B}"/>
              </a:ext>
            </a:extLst>
          </p:cNvPr>
          <p:cNvSpPr>
            <a:spLocks xmlns:a="http://schemas.openxmlformats.org/drawingml/2006/main" noGrp="1"/>
          </p:cNvSpPr>
          <p:nvPr/>
        </p:nvSpPr>
        <p:spPr>
          <a:xfrm xmlns:a="http://schemas.openxmlformats.org/drawingml/2006/main">
            <a:off x="647700" y="3009900"/>
            <a:ext cx="51530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AAB6C4"/>
                </a:solidFill>
                <a:latin typeface="Helvetica Neue"/>
                <a:ea typeface="Helvetica Neue"/>
                <a:cs typeface="Helvetica Neue"/>
              </a:defRPr>
            </a:pPr>
            <a:r>
              <a:rPr sz="2250" b="0">
                <a:solidFill>
                  <a:srgbClr val="AAB6C4"/>
                </a:solidFill>
                <a:latin typeface="Helvetica Neue"/>
                <a:ea typeface="Helvetica Neue"/>
                <a:cs typeface="Helvetica Neue"/>
              </a:rPr>
              <a:t>Clone the public source and open</a:t>
            </a:r>
          </a:p>
          <a:p xmlns:a="http://schemas.openxmlformats.org/drawingml/2006/main">
            <a:pPr>
              <a:defRPr sz="2250" b="0">
                <a:solidFill>
                  <a:srgbClr val="AAB6C4"/>
                </a:solidFill>
                <a:latin typeface="Helvetica Neue"/>
                <a:ea typeface="Helvetica Neue"/>
                <a:cs typeface="Helvetica Neue"/>
              </a:defRPr>
            </a:pPr>
            <a:r>
              <a:rPr sz="2250" b="0">
                <a:solidFill>
                  <a:srgbClr val="AAB6C4"/>
                </a:solidFill>
                <a:latin typeface="Helvetica Neue"/>
                <a:ea typeface="Helvetica Neue"/>
                <a:cs typeface="Helvetica Neue"/>
              </a:rPr>
              <a:t>the local dashboard without keys.</a:t>
            </a:r>
          </a:p>
        </p:txBody>
      </p:sp>
      <p:sp>
        <p:nvSpPr>
          <p:cNvPr id="7" name="">
            <a:extLst xmlns:a="http://schemas.openxmlformats.org/drawingml/2006/main">
              <a:ext uri="{FF2B5EF4-FFF2-40B4-BE49-F238E27FC236}">
                <a16:creationId xmlns:a16="http://schemas.microsoft.com/office/drawing/2014/main" id="{E280A418-8AFE-4F7E-934C-D976E1F7C2C0}"/>
              </a:ext>
            </a:extLst>
          </p:cNvPr>
          <p:cNvSpPr>
            <a:spLocks xmlns:a="http://schemas.openxmlformats.org/drawingml/2006/main" noGrp="1"/>
          </p:cNvSpPr>
          <p:nvPr/>
        </p:nvSpPr>
        <p:spPr>
          <a:xfrm xmlns:a="http://schemas.openxmlformats.org/drawingml/2006/main">
            <a:off x="6362700" y="2209800"/>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EFF3F6"/>
                </a:solidFill>
                <a:latin typeface="Helvetica Neue"/>
                <a:ea typeface="Helvetica Neue"/>
                <a:cs typeface="Helvetica Neue"/>
              </a:defRPr>
            </a:pPr>
            <a:r>
              <a:rPr sz="2775" b="1">
                <a:solidFill>
                  <a:srgbClr val="EFF3F6"/>
                </a:solidFill>
                <a:latin typeface="Helvetica Neue"/>
                <a:ea typeface="Helvetica Neue"/>
                <a:cs typeface="Helvetica Neue"/>
              </a:rPr>
              <a:t>Verify the next boundary</a:t>
            </a:r>
          </a:p>
        </p:txBody>
      </p:sp>
      <p:sp>
        <p:nvSpPr>
          <p:cNvPr id="8" name="">
            <a:extLst xmlns:a="http://schemas.openxmlformats.org/drawingml/2006/main">
              <a:ext uri="{FF2B5EF4-FFF2-40B4-BE49-F238E27FC236}">
                <a16:creationId xmlns:a16="http://schemas.microsoft.com/office/drawing/2014/main" id="{8328D6EA-CFC9-4FF0-B136-B214B34FE1C2}"/>
              </a:ext>
            </a:extLst>
          </p:cNvPr>
          <p:cNvSpPr>
            <a:spLocks xmlns:a="http://schemas.openxmlformats.org/drawingml/2006/main" noGrp="1"/>
          </p:cNvSpPr>
          <p:nvPr/>
        </p:nvSpPr>
        <p:spPr>
          <a:xfrm xmlns:a="http://schemas.openxmlformats.org/drawingml/2006/main">
            <a:off x="6381750" y="3009900"/>
            <a:ext cx="5238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AB6C4"/>
                </a:solidFill>
                <a:latin typeface="Helvetica Neue"/>
                <a:ea typeface="Helvetica Neue"/>
                <a:cs typeface="Helvetica Neue"/>
              </a:defRPr>
            </a:pPr>
            <a:r>
              <a:rPr sz="2175" b="0">
                <a:solidFill>
                  <a:srgbClr val="AAB6C4"/>
                </a:solidFill>
                <a:latin typeface="Helvetica Neue"/>
                <a:ea typeface="Helvetica Neue"/>
                <a:cs typeface="Helvetica Neue"/>
              </a:rPr>
              <a:t>Run a monitored paper round trip,</a:t>
            </a:r>
          </a:p>
          <a:p xmlns:a="http://schemas.openxmlformats.org/drawingml/2006/main">
            <a:pPr>
              <a:defRPr sz="2175" b="0">
                <a:solidFill>
                  <a:srgbClr val="AAB6C4"/>
                </a:solidFill>
                <a:latin typeface="Helvetica Neue"/>
                <a:ea typeface="Helvetica Neue"/>
                <a:cs typeface="Helvetica Neue"/>
              </a:defRPr>
            </a:pPr>
            <a:r>
              <a:rPr sz="2175" b="0">
                <a:solidFill>
                  <a:srgbClr val="AAB6C4"/>
                </a:solidFill>
                <a:latin typeface="Helvetica Neue"/>
                <a:ea typeface="Helvetica Neue"/>
                <a:cs typeface="Helvetica Neue"/>
              </a:rPr>
              <a:t>then validate execution data and</a:t>
            </a:r>
          </a:p>
          <a:p xmlns:a="http://schemas.openxmlformats.org/drawingml/2006/main">
            <a:pPr>
              <a:defRPr sz="2175" b="0">
                <a:solidFill>
                  <a:srgbClr val="AAB6C4"/>
                </a:solidFill>
                <a:latin typeface="Helvetica Neue"/>
                <a:ea typeface="Helvetica Neue"/>
                <a:cs typeface="Helvetica Neue"/>
              </a:defRPr>
            </a:pPr>
            <a:r>
              <a:rPr sz="2175" b="0">
                <a:solidFill>
                  <a:srgbClr val="AAB6C4"/>
                </a:solidFill>
                <a:latin typeface="Helvetica Neue"/>
                <a:ea typeface="Helvetica Neue"/>
                <a:cs typeface="Helvetica Neue"/>
              </a:rPr>
              <a:t>research the strategy out of sample.</a:t>
            </a:r>
          </a:p>
        </p:txBody>
      </p:sp>
      <p:sp>
        <p:nvSpPr>
          <p:cNvPr id="9" name="">
            <a:extLst xmlns:a="http://schemas.openxmlformats.org/drawingml/2006/main">
              <a:ext uri="{FF2B5EF4-FFF2-40B4-BE49-F238E27FC236}">
                <a16:creationId xmlns:a16="http://schemas.microsoft.com/office/drawing/2014/main" id="{4F4EBE33-899E-4550-B68F-FDA150BBC748}"/>
              </a:ext>
            </a:extLst>
          </p:cNvPr>
          <p:cNvSpPr>
            <a:spLocks xmlns:a="http://schemas.openxmlformats.org/drawingml/2006/main" noGrp="1"/>
          </p:cNvSpPr>
          <p:nvPr/>
        </p:nvSpPr>
        <p:spPr>
          <a:xfrm xmlns:a="http://schemas.openxmlformats.org/drawingml/2006/main">
            <a:off x="647700" y="50101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7EF6A"/>
                </a:solidFill>
                <a:latin typeface="Helvetica Neue"/>
                <a:ea typeface="Helvetica Neue"/>
                <a:cs typeface="Helvetica Neue"/>
              </a:defRPr>
            </a:pPr>
            <a:r>
              <a:rPr sz="2925" b="1">
                <a:solidFill>
                  <a:srgbClr val="B7EF6A"/>
                </a:solidFill>
                <a:latin typeface="Helvetica Neue"/>
                <a:ea typeface="Helvetica Neue"/>
                <a:cs typeface="Helvetica Neue"/>
              </a:rPr>
              <a:t>github.com/Aldridgexia/onespread</a:t>
            </a:r>
          </a:p>
        </p:txBody>
      </p:sp>
      <p:sp>
        <p:nvSpPr>
          <p:cNvPr id="10" name="">
            <a:extLst xmlns:a="http://schemas.openxmlformats.org/drawingml/2006/main">
              <a:ext uri="{FF2B5EF4-FFF2-40B4-BE49-F238E27FC236}">
                <a16:creationId xmlns:a16="http://schemas.microsoft.com/office/drawing/2014/main" id="{A51BE650-D61D-42F1-B9A7-745B9F237EF1}"/>
              </a:ext>
            </a:extLst>
          </p:cNvPr>
          <p:cNvSpPr>
            <a:spLocks xmlns:a="http://schemas.openxmlformats.org/drawingml/2006/main" noGrp="1"/>
          </p:cNvSpPr>
          <p:nvPr/>
        </p:nvSpPr>
        <p:spPr>
          <a:xfrm xmlns:a="http://schemas.openxmlformats.org/drawingml/2006/main">
            <a:off x="6477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EFF3F6"/>
                </a:solidFill>
                <a:latin typeface="Helvetica Neue"/>
                <a:ea typeface="Helvetica Neue"/>
                <a:cs typeface="Helvetica Neue"/>
              </a:defRPr>
            </a:pPr>
            <a:r>
              <a:rPr sz="1875" b="0">
                <a:solidFill>
                  <a:srgbClr val="EFF3F6"/>
                </a:solidFill>
                <a:latin typeface="Helvetica Neue"/>
                <a:ea typeface="Helvetica Neue"/>
                <a:cs typeface="Helvetica Neue"/>
              </a:rPr>
              <a:t>MIT source  •  Reproducible setup  •  Synthetic replay included</a:t>
            </a:r>
          </a:p>
        </p:txBody>
      </p:sp>
    </p:spTree>
    <p:extLst>
      <p:ext uri="{BB962C8B-B14F-4D97-AF65-F5344CB8AC3E}">
        <p14:creationId xmlns:p14="http://schemas.microsoft.com/office/powerpoint/2010/main" val="9806814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2026-09-04T13:33:13.9810000Z</dcterms:created>
  <dcterms:modified xsi:type="dcterms:W3CDTF">2026-09-04T13:33:13.9810000Z</dcterms:modified>
</coreProperties>
</file>